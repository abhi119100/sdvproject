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slide" Target="slides/slide4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dc0fc58ee_2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dc0fc58ee_2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cdc0fc58e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cdc0fc58e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cdc0fc58ee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cdc0fc58ee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cdc0fc58ee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cdc0fc58ee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dc0fc58e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dc0fc58e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dc0fc58ee_2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cdc0fc58ee_2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cdc0fc58ee_2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cdc0fc58ee_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cdc0fc58ee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cdc0fc58ee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cdc0fc58ee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cdc0fc58ee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cdc0fc58e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cdc0fc58e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cdc0fc58ee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cdc0fc58ee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cdc0fc58ee_2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cdc0fc58ee_2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cdc0fc58ee_2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cdc0fc58ee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cdc0fc58ee_2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cdc0fc58ee_2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cdc0fc58ee_2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cdc0fc58ee_2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dc0fc58ee_2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cdc0fc58ee_2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dc0fc58ee_2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cdc0fc58ee_2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dc0fc58ee_2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cdc0fc58ee_2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dc0fc58ee_2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dc0fc58ee_2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cdc0fc58ee_2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cdc0fc58ee_2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cdc0fc58ee_2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cdc0fc58ee_2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cdc0fc58ee_2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cdc0fc58ee_2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cdc0fc58ee_2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cdc0fc58ee_2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cdc0fc58ee_2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cdc0fc58ee_2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cdc0fc58ee_2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cdc0fc58ee_2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cdc0fc58ee_2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cdc0fc58ee_2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cdc0fc58ee_2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cdc0fc58ee_2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cdc0fc58ee_2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cdc0fc58ee_2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cdc0fc58ee_2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cdc0fc58ee_2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cdc0fc58ee_2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cdc0fc58ee_2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d5fda254f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d5fda254f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d5fda254f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d5fda254f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d5fda254f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d5fda254f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d5fda254f4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d5fda254f4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d5fda254f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d5fda254f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d5fda254f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d5fda254f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d5fda254f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d5fda254f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d5fda254f4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d5fda254f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d5fda254f4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d5fda254f4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d5fda254f4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d5fda254f4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d5fda254f4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d5fda254f4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5fda254f4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d5fda254f4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d5fda254f4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d5fda254f4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d5fda254f4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d5fda254f4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36216" y="1294500"/>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n-GB"/>
              <a:t>NBA Player Performance Dashboard</a:t>
            </a:r>
            <a:endParaRPr/>
          </a:p>
          <a:p>
            <a:pPr indent="0" lvl="0" marL="0" rtl="0" algn="ctr">
              <a:spcBef>
                <a:spcPts val="0"/>
              </a:spcBef>
              <a:spcAft>
                <a:spcPts val="0"/>
              </a:spcAft>
              <a:buClr>
                <a:schemeClr val="dk1"/>
              </a:buClr>
              <a:buSzPts val="990"/>
              <a:buFont typeface="Arial"/>
              <a:buNone/>
            </a:pPr>
            <a:r>
              <a:rPr lang="en-GB"/>
              <a:t>Data Visualization Project 1</a:t>
            </a:r>
            <a:endParaRPr/>
          </a:p>
          <a:p>
            <a:pPr indent="0" lvl="0" marL="0" rtl="0" algn="ctr">
              <a:spcBef>
                <a:spcPts val="0"/>
              </a:spcBef>
              <a:spcAft>
                <a:spcPts val="0"/>
              </a:spcAft>
              <a:buNone/>
            </a:pPr>
            <a:r>
              <a:t/>
            </a:r>
            <a:endParaRPr/>
          </a:p>
        </p:txBody>
      </p:sp>
      <p:sp>
        <p:nvSpPr>
          <p:cNvPr id="55" name="Google Shape;55;p13"/>
          <p:cNvSpPr txBox="1"/>
          <p:nvPr>
            <p:ph idx="1" type="subTitle"/>
          </p:nvPr>
        </p:nvSpPr>
        <p:spPr>
          <a:xfrm>
            <a:off x="322508" y="3998675"/>
            <a:ext cx="8520600" cy="792600"/>
          </a:xfrm>
          <a:prstGeom prst="rect">
            <a:avLst/>
          </a:prstGeom>
        </p:spPr>
        <p:txBody>
          <a:bodyPr anchorCtr="0" anchor="t" bIns="91425" lIns="91425" spcFirstLastPara="1" rIns="91425" wrap="square" tIns="91425">
            <a:normAutofit fontScale="32500" lnSpcReduction="20000"/>
          </a:bodyPr>
          <a:lstStyle/>
          <a:p>
            <a:pPr indent="0" lvl="0" marL="0" rtl="0" algn="ctr">
              <a:spcBef>
                <a:spcPts val="0"/>
              </a:spcBef>
              <a:spcAft>
                <a:spcPts val="0"/>
              </a:spcAft>
              <a:buClr>
                <a:schemeClr val="dk1"/>
              </a:buClr>
              <a:buSzPct val="39286"/>
              <a:buFont typeface="Arial"/>
              <a:buNone/>
            </a:pPr>
            <a:r>
              <a:rPr lang="en-GB"/>
              <a:t>CSCE 5320 - Data Visualization</a:t>
            </a:r>
            <a:endParaRPr/>
          </a:p>
          <a:p>
            <a:pPr indent="0" lvl="0" marL="0" rtl="0" algn="ctr">
              <a:spcBef>
                <a:spcPts val="0"/>
              </a:spcBef>
              <a:spcAft>
                <a:spcPts val="0"/>
              </a:spcAft>
              <a:buClr>
                <a:schemeClr val="dk1"/>
              </a:buClr>
              <a:buSzPct val="39286"/>
              <a:buFont typeface="Arial"/>
              <a:buNone/>
            </a:pPr>
            <a:r>
              <a:rPr lang="en-GB"/>
              <a:t>2024-2025 NBA Season Analysis</a:t>
            </a:r>
            <a:endParaRPr/>
          </a:p>
          <a:p>
            <a:pPr indent="0" lvl="0" marL="0" rtl="0" algn="ctr">
              <a:spcBef>
                <a:spcPts val="0"/>
              </a:spcBef>
              <a:spcAft>
                <a:spcPts val="0"/>
              </a:spcAft>
              <a:buClr>
                <a:schemeClr val="dk1"/>
              </a:buClr>
              <a:buSzPct val="39286"/>
              <a:buFont typeface="Arial"/>
              <a:buNone/>
            </a:pPr>
            <a:r>
              <a:rPr lang="en-GB"/>
              <a:t>Abhijit Sappidi</a:t>
            </a:r>
            <a:endParaRPr/>
          </a:p>
          <a:p>
            <a:pPr indent="0" lvl="0" marL="0" rtl="0" algn="ctr">
              <a:spcBef>
                <a:spcPts val="0"/>
              </a:spcBef>
              <a:spcAft>
                <a:spcPts val="0"/>
              </a:spcAft>
              <a:buClr>
                <a:schemeClr val="dk1"/>
              </a:buClr>
              <a:buSzPct val="39286"/>
              <a:buFont typeface="Arial"/>
              <a:buNone/>
            </a:pPr>
            <a:r>
              <a:rPr lang="en-GB"/>
              <a:t>11723306</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247000" y="1323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500">
                <a:solidFill>
                  <a:srgbClr val="4D4D4C"/>
                </a:solidFill>
                <a:latin typeface="Times New Roman"/>
                <a:ea typeface="Times New Roman"/>
                <a:cs typeface="Times New Roman"/>
                <a:sym typeface="Times New Roman"/>
              </a:rPr>
              <a:t>Introduction</a:t>
            </a:r>
            <a:endParaRPr sz="2500">
              <a:latin typeface="Times New Roman"/>
              <a:ea typeface="Times New Roman"/>
              <a:cs typeface="Times New Roman"/>
              <a:sym typeface="Times New Roman"/>
            </a:endParaRPr>
          </a:p>
        </p:txBody>
      </p:sp>
      <p:sp>
        <p:nvSpPr>
          <p:cNvPr id="61" name="Google Shape;61;p14"/>
          <p:cNvSpPr txBox="1"/>
          <p:nvPr>
            <p:ph idx="1" type="body"/>
          </p:nvPr>
        </p:nvSpPr>
        <p:spPr>
          <a:xfrm>
            <a:off x="247000" y="954675"/>
            <a:ext cx="8520600" cy="409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rgbClr val="4D4D4C"/>
                </a:solidFill>
                <a:latin typeface="Times New Roman"/>
                <a:ea typeface="Times New Roman"/>
                <a:cs typeface="Times New Roman"/>
                <a:sym typeface="Times New Roman"/>
              </a:rPr>
              <a:t>NBA teams spend billions on player salaries, yet not all high-paid players deliver proportional on-court performance. Before analyzing salary efficiency, we must first understand the performance landscape: Who are the top performers? How do stats vary by position and role?</a:t>
            </a:r>
            <a:endParaRPr sz="15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500">
                <a:solidFill>
                  <a:srgbClr val="4D4D4C"/>
                </a:solidFill>
                <a:latin typeface="Times New Roman"/>
                <a:ea typeface="Times New Roman"/>
                <a:cs typeface="Times New Roman"/>
                <a:sym typeface="Times New Roman"/>
              </a:rPr>
              <a:t>Project 1 Focus:</a:t>
            </a:r>
            <a:endParaRPr sz="15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500">
                <a:solidFill>
                  <a:srgbClr val="4D4D4C"/>
                </a:solidFill>
                <a:latin typeface="Times New Roman"/>
                <a:ea typeface="Times New Roman"/>
                <a:cs typeface="Times New Roman"/>
                <a:sym typeface="Times New Roman"/>
              </a:rPr>
              <a:t>Explore, clean, and visualize the 2024-25 NBA Player Stats dataset to uncover performance patterns, positional differences, and statistical correlations.</a:t>
            </a:r>
            <a:endParaRPr sz="15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500">
                <a:solidFill>
                  <a:srgbClr val="4D4D4C"/>
                </a:solidFill>
                <a:latin typeface="Times New Roman"/>
                <a:ea typeface="Times New Roman"/>
                <a:cs typeface="Times New Roman"/>
                <a:sym typeface="Times New Roman"/>
              </a:rPr>
              <a:t>Project 2 Preview (Future):</a:t>
            </a:r>
            <a:endParaRPr sz="1500">
              <a:solidFill>
                <a:srgbClr val="4D4D4C"/>
              </a:solidFill>
              <a:latin typeface="Times New Roman"/>
              <a:ea typeface="Times New Roman"/>
              <a:cs typeface="Times New Roman"/>
              <a:sym typeface="Times New Roman"/>
            </a:endParaRPr>
          </a:p>
          <a:p>
            <a:pPr indent="0" lvl="0" marL="0" rtl="0" algn="l">
              <a:spcBef>
                <a:spcPts val="1200"/>
              </a:spcBef>
              <a:spcAft>
                <a:spcPts val="1200"/>
              </a:spcAft>
              <a:buNone/>
            </a:pPr>
            <a:r>
              <a:rPr lang="en-GB" sz="1500">
                <a:solidFill>
                  <a:srgbClr val="4D4D4C"/>
                </a:solidFill>
                <a:latin typeface="Times New Roman"/>
                <a:ea typeface="Times New Roman"/>
                <a:cs typeface="Times New Roman"/>
                <a:sym typeface="Times New Roman"/>
              </a:rPr>
              <a:t>Integrate salary data to compute Performance Value Index and identify undervalued vs. overpaid players.</a:t>
            </a:r>
            <a:endParaRPr sz="19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GB">
                <a:latin typeface="Times New Roman"/>
                <a:ea typeface="Times New Roman"/>
                <a:cs typeface="Times New Roman"/>
                <a:sym typeface="Times New Roman"/>
              </a:rPr>
              <a:t>Problem Statement</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400">
                <a:solidFill>
                  <a:srgbClr val="4D4D4C"/>
                </a:solidFill>
                <a:latin typeface="Times New Roman"/>
                <a:ea typeface="Times New Roman"/>
                <a:cs typeface="Times New Roman"/>
                <a:sym typeface="Times New Roman"/>
              </a:rPr>
              <a:t>Core Questions We Answer in Project 1:</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1. Who are the top-performing NBA players in the 2024-25 season?</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2. How does performance vary across positions? (Point Guards vs. Shooting Guards vs. Centers)</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3. Which performance metrics correlate most strongly with overall player efficiency?</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4. What does the scoring distribution look like across all NBA players — and where is the elite tier?</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Domain: NBA Sports Analytics</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1200"/>
              </a:spcAft>
              <a:buNone/>
            </a:pPr>
            <a:r>
              <a:rPr lang="en-GB" sz="1400">
                <a:solidFill>
                  <a:srgbClr val="4D4D4C"/>
                </a:solidFill>
                <a:latin typeface="Times New Roman"/>
                <a:ea typeface="Times New Roman"/>
                <a:cs typeface="Times New Roman"/>
                <a:sym typeface="Times New Roman"/>
              </a:rPr>
              <a:t>Audience: Team management, coaches, scouts, fantasy analysts</a:t>
            </a:r>
            <a:endParaRPr sz="14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990"/>
              <a:buFont typeface="Arial"/>
              <a:buNone/>
            </a:pPr>
            <a:r>
              <a:rPr lang="en-GB" sz="2500">
                <a:solidFill>
                  <a:srgbClr val="4D4D4C"/>
                </a:solidFill>
                <a:latin typeface="Times New Roman"/>
                <a:ea typeface="Times New Roman"/>
                <a:cs typeface="Times New Roman"/>
                <a:sym typeface="Times New Roman"/>
              </a:rPr>
              <a:t>Project Objectives</a:t>
            </a:r>
            <a:endParaRPr sz="2500">
              <a:solidFill>
                <a:srgbClr val="4D4D4C"/>
              </a:solidFill>
              <a:latin typeface="Times New Roman"/>
              <a:ea typeface="Times New Roman"/>
              <a:cs typeface="Times New Roman"/>
              <a:sym typeface="Times New Roman"/>
            </a:endParaRPr>
          </a:p>
          <a:p>
            <a:pPr indent="0" lvl="0" marL="0" rtl="0" algn="l">
              <a:spcBef>
                <a:spcPts val="1200"/>
              </a:spcBef>
              <a:spcAft>
                <a:spcPts val="0"/>
              </a:spcAft>
              <a:buSzPts val="990"/>
              <a:buNone/>
            </a:pPr>
            <a:r>
              <a:t/>
            </a:r>
            <a:endParaRPr sz="2500">
              <a:solidFill>
                <a:srgbClr val="4D4D4C"/>
              </a:solidFill>
              <a:latin typeface="Times New Roman"/>
              <a:ea typeface="Times New Roman"/>
              <a:cs typeface="Times New Roman"/>
              <a:sym typeface="Times New Roman"/>
            </a:endParaRPr>
          </a:p>
        </p:txBody>
      </p:sp>
      <p:sp>
        <p:nvSpPr>
          <p:cNvPr id="73" name="Google Shape;73;p16"/>
          <p:cNvSpPr txBox="1"/>
          <p:nvPr>
            <p:ph idx="1" type="body"/>
          </p:nvPr>
        </p:nvSpPr>
        <p:spPr>
          <a:xfrm>
            <a:off x="311700" y="1152475"/>
            <a:ext cx="8520600" cy="2629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GB" sz="1400">
                <a:solidFill>
                  <a:srgbClr val="4D4D4C"/>
                </a:solidFill>
                <a:latin typeface="Times New Roman"/>
                <a:ea typeface="Times New Roman"/>
                <a:cs typeface="Times New Roman"/>
                <a:sym typeface="Times New Roman"/>
              </a:rPr>
              <a:t>✔ Import and explore the 2024-25 NBA player stats dataset</a:t>
            </a:r>
            <a:endParaRPr sz="1400">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275"/>
              <a:buNone/>
            </a:pPr>
            <a:r>
              <a:rPr lang="en-GB" sz="1400">
                <a:solidFill>
                  <a:srgbClr val="4D4D4C"/>
                </a:solidFill>
                <a:latin typeface="Times New Roman"/>
                <a:ea typeface="Times New Roman"/>
                <a:cs typeface="Times New Roman"/>
                <a:sym typeface="Times New Roman"/>
              </a:rPr>
              <a:t>✔ Clean data — handle missing values, filter low-game players,  standardize position labels</a:t>
            </a:r>
            <a:endParaRPr sz="1400">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275"/>
              <a:buNone/>
            </a:pPr>
            <a:r>
              <a:rPr lang="en-GB" sz="1400">
                <a:solidFill>
                  <a:srgbClr val="4D4D4C"/>
                </a:solidFill>
                <a:latin typeface="Times New Roman"/>
                <a:ea typeface="Times New Roman"/>
                <a:cs typeface="Times New Roman"/>
                <a:sym typeface="Times New Roman"/>
              </a:rPr>
              <a:t>✔ Create 8 static visualizations covering distributions,  positional comparisons, and correlations</a:t>
            </a:r>
            <a:endParaRPr sz="1400">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275"/>
              <a:buNone/>
            </a:pPr>
            <a:r>
              <a:rPr lang="en-GB" sz="1400">
                <a:solidFill>
                  <a:srgbClr val="4D4D4C"/>
                </a:solidFill>
                <a:latin typeface="Times New Roman"/>
                <a:ea typeface="Times New Roman"/>
                <a:cs typeface="Times New Roman"/>
                <a:sym typeface="Times New Roman"/>
              </a:rPr>
              <a:t>✔ Perform correlation analysis : identify which stats predict overall player efficiency (PER)</a:t>
            </a:r>
            <a:endParaRPr sz="1400">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275"/>
              <a:buNone/>
            </a:pPr>
            <a:r>
              <a:rPr lang="en-GB" sz="1400">
                <a:solidFill>
                  <a:srgbClr val="4D4D4C"/>
                </a:solidFill>
                <a:latin typeface="Times New Roman"/>
                <a:ea typeface="Times New Roman"/>
                <a:cs typeface="Times New Roman"/>
                <a:sym typeface="Times New Roman"/>
              </a:rPr>
              <a:t>✔ Generate summary insights by position and performance tier</a:t>
            </a:r>
            <a:endParaRPr sz="1400">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275"/>
              <a:buNone/>
            </a:pPr>
            <a:r>
              <a:rPr lang="en-GB" sz="1400">
                <a:solidFill>
                  <a:srgbClr val="4D4D4C"/>
                </a:solidFill>
                <a:latin typeface="Times New Roman"/>
                <a:ea typeface="Times New Roman"/>
                <a:cs typeface="Times New Roman"/>
                <a:sym typeface="Times New Roman"/>
              </a:rPr>
              <a:t>✔ Build dashboards in Tableau and Power BI</a:t>
            </a:r>
            <a:endParaRPr sz="1400">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275"/>
              <a:buNone/>
            </a:pPr>
            <a:r>
              <a:t/>
            </a:r>
            <a:endParaRPr sz="14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28627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2400"/>
              </a:spcBef>
              <a:spcAft>
                <a:spcPts val="0"/>
              </a:spcAft>
              <a:buClr>
                <a:schemeClr val="dk1"/>
              </a:buClr>
              <a:buSzPct val="47826"/>
              <a:buFont typeface="Arial"/>
              <a:buNone/>
            </a:pPr>
            <a:r>
              <a:rPr b="1" lang="en-GB" sz="2300">
                <a:latin typeface="Times New Roman"/>
                <a:ea typeface="Times New Roman"/>
                <a:cs typeface="Times New Roman"/>
                <a:sym typeface="Times New Roman"/>
              </a:rPr>
              <a:t>Dataset Details</a:t>
            </a:r>
            <a:endParaRPr b="1" sz="2300">
              <a:latin typeface="Times New Roman"/>
              <a:ea typeface="Times New Roman"/>
              <a:cs typeface="Times New Roman"/>
              <a:sym typeface="Times New Roman"/>
            </a:endParaRPr>
          </a:p>
          <a:p>
            <a:pPr indent="0" lvl="0" marL="0" rtl="0" algn="l">
              <a:spcBef>
                <a:spcPts val="600"/>
              </a:spcBef>
              <a:spcAft>
                <a:spcPts val="0"/>
              </a:spcAft>
              <a:buNone/>
            </a:pPr>
            <a:r>
              <a:t/>
            </a:r>
            <a:endParaRPr>
              <a:latin typeface="Times New Roman"/>
              <a:ea typeface="Times New Roman"/>
              <a:cs typeface="Times New Roman"/>
              <a:sym typeface="Times New Roman"/>
            </a:endParaRPr>
          </a:p>
        </p:txBody>
      </p:sp>
      <p:sp>
        <p:nvSpPr>
          <p:cNvPr id="79" name="Google Shape;79;p17"/>
          <p:cNvSpPr txBox="1"/>
          <p:nvPr>
            <p:ph idx="1" type="body"/>
          </p:nvPr>
        </p:nvSpPr>
        <p:spPr>
          <a:xfrm>
            <a:off x="276400" y="863550"/>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400">
                <a:solidFill>
                  <a:srgbClr val="4D4D4C"/>
                </a:solidFill>
                <a:latin typeface="Times New Roman"/>
                <a:ea typeface="Times New Roman"/>
                <a:cs typeface="Times New Roman"/>
                <a:sym typeface="Times New Roman"/>
              </a:rPr>
              <a:t>Dataset 1: NBA Player Stats 2024-25 (Per Game)</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Source:    Kaggle — ratin21</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URL:       kaggle.com/datasets/ratin21/nba-player-stats-2024-25-per-game</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Type:      Structured CSV</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Raw Size:  735 rows × 30+ columns</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Cleaned:   590 players × 32 columns (after filtering G ≥ 15)</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Key Columns Used:</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Player, Pos, Team, Age, G (Games Played) PTS (Points Per Game) TRB (Total Rebounds Per Game) AST (Assists Per Game) STL, BLK, TOV, FG%, 3P%, FT% (Shooting Percentages)  USG% (Usage Rate)  from Advanced Stats PER (Player Efficiency Rating)  from Advanced Stats</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a:p>
            <a:pPr indent="0" lvl="0" marL="76200" marR="76200" rtl="0" algn="r">
              <a:lnSpc>
                <a:spcPct val="100000"/>
              </a:lnSpc>
              <a:spcBef>
                <a:spcPts val="1200"/>
              </a:spcBef>
              <a:spcAft>
                <a:spcPts val="0"/>
              </a:spcAft>
              <a:buClr>
                <a:schemeClr val="dk1"/>
              </a:buClr>
              <a:buSzPts val="1100"/>
              <a:buFont typeface="Arial"/>
              <a:buNone/>
            </a:pPr>
            <a:r>
              <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0"/>
              </a:spcBef>
              <a:spcAft>
                <a:spcPts val="1200"/>
              </a:spcAft>
              <a:buNone/>
            </a:pPr>
            <a:r>
              <a:t/>
            </a:r>
            <a:endParaRPr sz="14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249975" y="233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Methodology - Data Collection &amp; Cleaning</a:t>
            </a:r>
            <a:endParaRPr/>
          </a:p>
        </p:txBody>
      </p:sp>
      <p:sp>
        <p:nvSpPr>
          <p:cNvPr id="85" name="Google Shape;85;p18"/>
          <p:cNvSpPr txBox="1"/>
          <p:nvPr>
            <p:ph idx="1" type="body"/>
          </p:nvPr>
        </p:nvSpPr>
        <p:spPr>
          <a:xfrm>
            <a:off x="311700" y="9760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GB" sz="1200">
                <a:latin typeface="Times New Roman"/>
                <a:ea typeface="Times New Roman"/>
                <a:cs typeface="Times New Roman"/>
                <a:sym typeface="Times New Roman"/>
              </a:rPr>
              <a:t>Data Sources:</a:t>
            </a:r>
            <a:endParaRPr sz="12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GB" sz="1200">
                <a:latin typeface="Times New Roman"/>
                <a:ea typeface="Times New Roman"/>
                <a:cs typeface="Times New Roman"/>
                <a:sym typeface="Times New Roman"/>
              </a:rPr>
              <a:t>• Basketball-Reference.com (Per-game and Advanced statistics)</a:t>
            </a:r>
            <a:endParaRPr sz="12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GB" sz="1200">
                <a:latin typeface="Times New Roman"/>
                <a:ea typeface="Times New Roman"/>
                <a:cs typeface="Times New Roman"/>
                <a:sym typeface="Times New Roman"/>
              </a:rPr>
              <a:t>• Initial dataset: 735 players</a:t>
            </a:r>
            <a:endParaRPr sz="12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GB" sz="1200">
                <a:latin typeface="Times New Roman"/>
                <a:ea typeface="Times New Roman"/>
                <a:cs typeface="Times New Roman"/>
                <a:sym typeface="Times New Roman"/>
              </a:rPr>
              <a:t>Data Cleaning Steps (Python/Pandas):</a:t>
            </a:r>
            <a:endParaRPr sz="12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GB" sz="1200">
                <a:latin typeface="Times New Roman"/>
                <a:ea typeface="Times New Roman"/>
                <a:cs typeface="Times New Roman"/>
                <a:sym typeface="Times New Roman"/>
              </a:rPr>
              <a:t>1. Handled traded players - kept TOT (Total) rows for full season stats</a:t>
            </a:r>
            <a:endParaRPr sz="12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GB" sz="1200">
                <a:latin typeface="Times New Roman"/>
                <a:ea typeface="Times New Roman"/>
                <a:cs typeface="Times New Roman"/>
                <a:sym typeface="Times New Roman"/>
              </a:rPr>
              <a:t>2. Filtered minimum 15 games played for statistical significance</a:t>
            </a:r>
            <a:endParaRPr sz="12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GB" sz="1200">
                <a:latin typeface="Times New Roman"/>
                <a:ea typeface="Times New Roman"/>
                <a:cs typeface="Times New Roman"/>
                <a:sym typeface="Times New Roman"/>
              </a:rPr>
              <a:t>3. Simplified positions to 5 main categories (PG, SG, SF, PF, C)</a:t>
            </a:r>
            <a:endParaRPr sz="12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GB" sz="1200">
                <a:latin typeface="Times New Roman"/>
                <a:ea typeface="Times New Roman"/>
                <a:cs typeface="Times New Roman"/>
                <a:sym typeface="Times New Roman"/>
              </a:rPr>
              <a:t>4. Converted all statistics to numeric format</a:t>
            </a:r>
            <a:endParaRPr sz="12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GB" sz="1200">
                <a:latin typeface="Times New Roman"/>
                <a:ea typeface="Times New Roman"/>
                <a:cs typeface="Times New Roman"/>
                <a:sym typeface="Times New Roman"/>
              </a:rPr>
              <a:t>5. Merged per-game stats with advanced metrics (PER, USG%)</a:t>
            </a:r>
            <a:endParaRPr sz="12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GB" sz="1200">
                <a:latin typeface="Times New Roman"/>
                <a:ea typeface="Times New Roman"/>
                <a:cs typeface="Times New Roman"/>
                <a:sym typeface="Times New Roman"/>
              </a:rPr>
              <a:t>6. Removed missing values and duplicates</a:t>
            </a:r>
            <a:endParaRPr sz="1200">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rPr lang="en-GB" sz="1200">
                <a:latin typeface="Times New Roman"/>
                <a:ea typeface="Times New Roman"/>
                <a:cs typeface="Times New Roman"/>
                <a:sym typeface="Times New Roman"/>
              </a:rPr>
              <a:t>Final Cleaned Dataset: 590 players with 32 attributes</a:t>
            </a:r>
            <a:endParaRPr sz="1200">
              <a:latin typeface="Times New Roman"/>
              <a:ea typeface="Times New Roman"/>
              <a:cs typeface="Times New Roman"/>
              <a:sym typeface="Times New Roman"/>
            </a:endParaRPr>
          </a:p>
          <a:p>
            <a:pPr indent="0" lvl="0" marL="0" rtl="0" algn="l">
              <a:lnSpc>
                <a:spcPct val="100000"/>
              </a:lnSpc>
              <a:spcBef>
                <a:spcPts val="1200"/>
              </a:spcBef>
              <a:spcAft>
                <a:spcPts val="1200"/>
              </a:spcAft>
              <a:buNone/>
            </a:pPr>
            <a:r>
              <a:t/>
            </a:r>
            <a:endParaRPr sz="12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19"/>
          <p:cNvPicPr preferRelativeResize="0"/>
          <p:nvPr/>
        </p:nvPicPr>
        <p:blipFill>
          <a:blip r:embed="rId3">
            <a:alphaModFix/>
          </a:blip>
          <a:stretch>
            <a:fillRect/>
          </a:stretch>
        </p:blipFill>
        <p:spPr>
          <a:xfrm>
            <a:off x="2648300" y="90650"/>
            <a:ext cx="3225800" cy="4838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2400"/>
              </a:spcBef>
              <a:spcAft>
                <a:spcPts val="0"/>
              </a:spcAft>
              <a:buClr>
                <a:schemeClr val="dk1"/>
              </a:buClr>
              <a:buSzPct val="47826"/>
              <a:buFont typeface="Arial"/>
              <a:buNone/>
            </a:pPr>
            <a:r>
              <a:rPr b="1" lang="en-GB" sz="2300"/>
              <a:t>Task Abstraction</a:t>
            </a:r>
            <a:endParaRPr b="1" sz="2300"/>
          </a:p>
          <a:p>
            <a:pPr indent="0" lvl="0" marL="0" rtl="0" algn="l">
              <a:spcBef>
                <a:spcPts val="600"/>
              </a:spcBef>
              <a:spcAft>
                <a:spcPts val="0"/>
              </a:spcAft>
              <a:buNone/>
            </a:pPr>
            <a:r>
              <a:t/>
            </a:r>
            <a:endParaRPr/>
          </a:p>
        </p:txBody>
      </p:sp>
      <p:sp>
        <p:nvSpPr>
          <p:cNvPr id="96" name="Google Shape;96;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solidFill>
                  <a:srgbClr val="4D4D4C"/>
                </a:solidFill>
                <a:latin typeface="Times New Roman"/>
                <a:ea typeface="Times New Roman"/>
                <a:cs typeface="Times New Roman"/>
                <a:sym typeface="Times New Roman"/>
              </a:rPr>
              <a:t>ACTIONS — Methods Used:</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400">
                <a:solidFill>
                  <a:srgbClr val="4D4D4C"/>
                </a:solidFill>
                <a:latin typeface="Times New Roman"/>
                <a:ea typeface="Times New Roman"/>
                <a:cs typeface="Times New Roman"/>
                <a:sym typeface="Times New Roman"/>
              </a:rPr>
              <a:t>1. Distribution Analysis   → Histogram of PTS to understand scoring spread</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400">
                <a:solidFill>
                  <a:srgbClr val="4D4D4C"/>
                </a:solidFill>
                <a:latin typeface="Times New Roman"/>
                <a:ea typeface="Times New Roman"/>
                <a:cs typeface="Times New Roman"/>
                <a:sym typeface="Times New Roman"/>
              </a:rPr>
              <a:t>2. Positional Aggregation   → Box plots of PTS, TRB, AST grouped by position</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400">
                <a:solidFill>
                  <a:srgbClr val="4D4D4C"/>
                </a:solidFill>
                <a:latin typeface="Times New Roman"/>
                <a:ea typeface="Times New Roman"/>
                <a:cs typeface="Times New Roman"/>
                <a:sym typeface="Times New Roman"/>
              </a:rPr>
              <a:t>3. Correlation Analysis   → Scatter plots: USG% vs PER, FG% vs PTS</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400">
                <a:solidFill>
                  <a:srgbClr val="4D4D4C"/>
                </a:solidFill>
                <a:latin typeface="Times New Roman"/>
                <a:ea typeface="Times New Roman"/>
                <a:cs typeface="Times New Roman"/>
                <a:sym typeface="Times New Roman"/>
              </a:rPr>
              <a:t>  				→ Heatmap: correlation matrix of all key metrics</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400">
                <a:solidFill>
                  <a:srgbClr val="4D4D4C"/>
                </a:solidFill>
                <a:latin typeface="Times New Roman"/>
                <a:ea typeface="Times New Roman"/>
                <a:cs typeface="Times New Roman"/>
                <a:sym typeface="Times New Roman"/>
              </a:rPr>
              <a:t>4. Comparative Aggregation  → Grouped bar chart: avg PTS, REB, AST by position</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1200"/>
              </a:spcAft>
              <a:buNone/>
            </a:pPr>
            <a:r>
              <a:rPr lang="en-GB" sz="1400">
                <a:solidFill>
                  <a:srgbClr val="4D4D4C"/>
                </a:solidFill>
                <a:latin typeface="Times New Roman"/>
                <a:ea typeface="Times New Roman"/>
                <a:cs typeface="Times New Roman"/>
                <a:sym typeface="Times New Roman"/>
              </a:rPr>
              <a:t>Tools: Python (Matplotlib, Seaborn), Tableau, Power BI</a:t>
            </a:r>
            <a:endParaRPr sz="14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500">
                <a:solidFill>
                  <a:srgbClr val="4D4D4C"/>
                </a:solidFill>
                <a:latin typeface="Times New Roman"/>
                <a:ea typeface="Times New Roman"/>
                <a:cs typeface="Times New Roman"/>
                <a:sym typeface="Times New Roman"/>
              </a:rPr>
              <a:t>Tools Used</a:t>
            </a:r>
            <a:endParaRPr sz="2500">
              <a:latin typeface="Times New Roman"/>
              <a:ea typeface="Times New Roman"/>
              <a:cs typeface="Times New Roman"/>
              <a:sym typeface="Times New Roman"/>
            </a:endParaRPr>
          </a:p>
        </p:txBody>
      </p:sp>
      <p:sp>
        <p:nvSpPr>
          <p:cNvPr id="102" name="Google Shape;102;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solidFill>
                  <a:srgbClr val="4D4D4C"/>
                </a:solidFill>
                <a:latin typeface="Times New Roman"/>
                <a:ea typeface="Times New Roman"/>
                <a:cs typeface="Times New Roman"/>
                <a:sym typeface="Times New Roman"/>
              </a:rPr>
              <a:t>Tool 1: Python (Google Colab)</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400">
                <a:solidFill>
                  <a:srgbClr val="4D4D4C"/>
                </a:solidFill>
                <a:latin typeface="Times New Roman"/>
                <a:ea typeface="Times New Roman"/>
                <a:cs typeface="Times New Roman"/>
                <a:sym typeface="Times New Roman"/>
              </a:rPr>
              <a:t>• Pandas — data loading, cleaning, merging, filtering, NumPy — numerical operations, correlation calculations,Matplotlib — chart generation (VIZ 1-8),Seaborn — heatmap and styled visualizations</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400">
                <a:solidFill>
                  <a:srgbClr val="4D4D4C"/>
                </a:solidFill>
                <a:latin typeface="Times New Roman"/>
                <a:ea typeface="Times New Roman"/>
                <a:cs typeface="Times New Roman"/>
                <a:sym typeface="Times New Roman"/>
              </a:rPr>
              <a:t> Output: 8 PNG chart files + cleaned CSV</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400">
                <a:solidFill>
                  <a:srgbClr val="4D4D4C"/>
                </a:solidFill>
                <a:latin typeface="Times New Roman"/>
                <a:ea typeface="Times New Roman"/>
                <a:cs typeface="Times New Roman"/>
                <a:sym typeface="Times New Roman"/>
              </a:rPr>
              <a:t>Tool 2: Tableau Public (Free)</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400">
                <a:solidFill>
                  <a:srgbClr val="4D4D4C"/>
                </a:solidFill>
                <a:latin typeface="Times New Roman"/>
                <a:ea typeface="Times New Roman"/>
                <a:cs typeface="Times New Roman"/>
                <a:sym typeface="Times New Roman"/>
              </a:rPr>
              <a:t>• Connected to nba_stats_cleaned.csv  Built 4 charts: Bar, Box Plot ×2, Scatter,Saved as: tableau_dashboard.twbx</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400">
                <a:solidFill>
                  <a:srgbClr val="4D4D4C"/>
                </a:solidFill>
                <a:latin typeface="Times New Roman"/>
                <a:ea typeface="Times New Roman"/>
                <a:cs typeface="Times New Roman"/>
                <a:sym typeface="Times New Roman"/>
              </a:rPr>
              <a:t>Tool 3: Microsoft Power BI Desktop (Free)</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400">
                <a:solidFill>
                  <a:srgbClr val="4D4D4C"/>
                </a:solidFill>
                <a:latin typeface="Times New Roman"/>
                <a:ea typeface="Times New Roman"/>
                <a:cs typeface="Times New Roman"/>
                <a:sym typeface="Times New Roman"/>
              </a:rPr>
              <a:t>• Connected to nba_stats_cleaned.csv, Built 4 charts: Bar, Table, Scatter ×2, Saved as: powerbi_dashboard.pbix</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1200"/>
              </a:spcAft>
              <a:buNone/>
            </a:pPr>
            <a:r>
              <a:rPr lang="en-GB" sz="1400">
                <a:solidFill>
                  <a:srgbClr val="4D4D4C"/>
                </a:solidFill>
                <a:latin typeface="Times New Roman"/>
                <a:ea typeface="Times New Roman"/>
                <a:cs typeface="Times New Roman"/>
                <a:sym typeface="Times New Roman"/>
              </a:rPr>
              <a:t>Data Flow:Raw CSVs → Python Cleaning → Cleaned CSV→ Tableau + Power BI → Dashboards + Screenshots</a:t>
            </a:r>
            <a:endParaRPr sz="14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500">
                <a:solidFill>
                  <a:srgbClr val="4D4D4C"/>
                </a:solidFill>
                <a:latin typeface="Times New Roman"/>
                <a:ea typeface="Times New Roman"/>
                <a:cs typeface="Times New Roman"/>
                <a:sym typeface="Times New Roman"/>
              </a:rPr>
              <a:t>How Data Was Loaded</a:t>
            </a:r>
            <a:endParaRPr sz="2500">
              <a:latin typeface="Times New Roman"/>
              <a:ea typeface="Times New Roman"/>
              <a:cs typeface="Times New Roman"/>
              <a:sym typeface="Times New Roman"/>
            </a:endParaRPr>
          </a:p>
        </p:txBody>
      </p:sp>
      <p:sp>
        <p:nvSpPr>
          <p:cNvPr id="108" name="Google Shape;108;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solidFill>
                  <a:srgbClr val="4D4D4C"/>
                </a:solidFill>
                <a:latin typeface="Times New Roman"/>
                <a:ea typeface="Times New Roman"/>
                <a:cs typeface="Times New Roman"/>
                <a:sym typeface="Times New Roman"/>
              </a:rPr>
              <a:t>Step 1: Uploaded 3 CSV files to Google Colab:</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400">
                <a:solidFill>
                  <a:srgbClr val="4D4D4C"/>
                </a:solidFill>
                <a:latin typeface="Times New Roman"/>
                <a:ea typeface="Times New Roman"/>
                <a:cs typeface="Times New Roman"/>
                <a:sym typeface="Times New Roman"/>
              </a:rPr>
              <a:t>• NBA Player Stats_2024-25_2.csv (per-game stats)</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400">
                <a:solidFill>
                  <a:srgbClr val="4D4D4C"/>
                </a:solidFill>
                <a:latin typeface="Times New Roman"/>
                <a:ea typeface="Times New Roman"/>
                <a:cs typeface="Times New Roman"/>
                <a:sym typeface="Times New Roman"/>
              </a:rPr>
              <a:t>• NBA Player Advanced Stats_2024-25.csv (PER, USG%)</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400">
                <a:solidFill>
                  <a:srgbClr val="4D4D4C"/>
                </a:solidFill>
                <a:latin typeface="Times New Roman"/>
                <a:ea typeface="Times New Roman"/>
                <a:cs typeface="Times New Roman"/>
                <a:sym typeface="Times New Roman"/>
              </a:rPr>
              <a:t>• NBA Player Stats_2024-25_Total.csv (totals — reference)</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400">
                <a:solidFill>
                  <a:srgbClr val="4D4D4C"/>
                </a:solidFill>
                <a:latin typeface="Times New Roman"/>
                <a:ea typeface="Times New Roman"/>
                <a:cs typeface="Times New Roman"/>
                <a:sym typeface="Times New Roman"/>
              </a:rPr>
              <a:t>Step 2: Loaded in Python using:pg = pd.read_csv('NBA Player Stats_2024-25_2.csv')  adv = pd.read_csv('NBA Player Advanced Stats_2024-25.csv')</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400">
                <a:solidFill>
                  <a:srgbClr val="4D4D4C"/>
                </a:solidFill>
                <a:latin typeface="Times New Roman"/>
                <a:ea typeface="Times New Roman"/>
                <a:cs typeface="Times New Roman"/>
                <a:sym typeface="Times New Roman"/>
              </a:rPr>
              <a:t>Step 3: Merged on Player column:  df = pg_clean.merge(adv_clean, on='Player', how='left')</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0"/>
              </a:spcAft>
              <a:buNone/>
            </a:pPr>
            <a:r>
              <a:rPr lang="en-GB" sz="1400">
                <a:solidFill>
                  <a:srgbClr val="4D4D4C"/>
                </a:solidFill>
                <a:latin typeface="Times New Roman"/>
                <a:ea typeface="Times New Roman"/>
                <a:cs typeface="Times New Roman"/>
                <a:sym typeface="Times New Roman"/>
              </a:rPr>
              <a:t>Step 4: Loaded cleaned CSV into Tableau:  Connect → Text File → nba_stats_cleaned.csv</a:t>
            </a:r>
            <a:endParaRPr sz="1400">
              <a:solidFill>
                <a:srgbClr val="4D4D4C"/>
              </a:solidFill>
              <a:latin typeface="Times New Roman"/>
              <a:ea typeface="Times New Roman"/>
              <a:cs typeface="Times New Roman"/>
              <a:sym typeface="Times New Roman"/>
            </a:endParaRPr>
          </a:p>
          <a:p>
            <a:pPr indent="0" lvl="0" marL="0" rtl="0" algn="l">
              <a:spcBef>
                <a:spcPts val="1200"/>
              </a:spcBef>
              <a:spcAft>
                <a:spcPts val="1200"/>
              </a:spcAft>
              <a:buNone/>
            </a:pPr>
            <a:r>
              <a:rPr lang="en-GB" sz="1400">
                <a:solidFill>
                  <a:srgbClr val="4D4D4C"/>
                </a:solidFill>
                <a:latin typeface="Times New Roman"/>
                <a:ea typeface="Times New Roman"/>
                <a:cs typeface="Times New Roman"/>
                <a:sym typeface="Times New Roman"/>
              </a:rPr>
              <a:t>Step 5: Loaded cleaned CSV into Power BI: Get Data → Text/CSV → nba_stats_cleaned.csv</a:t>
            </a:r>
            <a:endParaRPr sz="14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rgbClr val="4D4D4C"/>
                </a:solidFill>
                <a:latin typeface="Times New Roman"/>
                <a:ea typeface="Times New Roman"/>
                <a:cs typeface="Times New Roman"/>
                <a:sym typeface="Times New Roman"/>
              </a:rPr>
              <a:t>VIZ 1 — Average Points Per Game by Position</a:t>
            </a:r>
            <a:endParaRPr sz="1500">
              <a:solidFill>
                <a:srgbClr val="4D4D4C"/>
              </a:solidFill>
              <a:latin typeface="Times New Roman"/>
              <a:ea typeface="Times New Roman"/>
              <a:cs typeface="Times New Roman"/>
              <a:sym typeface="Times New Roman"/>
            </a:endParaRPr>
          </a:p>
          <a:p>
            <a:pPr indent="0" lvl="0" marL="0" rtl="0" algn="l">
              <a:spcBef>
                <a:spcPts val="0"/>
              </a:spcBef>
              <a:spcAft>
                <a:spcPts val="0"/>
              </a:spcAft>
              <a:buNone/>
            </a:pPr>
            <a:r>
              <a:rPr lang="en-GB" sz="1500">
                <a:solidFill>
                  <a:srgbClr val="4D4D4C"/>
                </a:solidFill>
                <a:latin typeface="Times New Roman"/>
                <a:ea typeface="Times New Roman"/>
                <a:cs typeface="Times New Roman"/>
                <a:sym typeface="Times New Roman"/>
              </a:rPr>
              <a:t>        Tool: Power BI | Chart Type: Clustered Column Chart</a:t>
            </a:r>
            <a:endParaRPr b="1" sz="1500">
              <a:latin typeface="Times New Roman"/>
              <a:ea typeface="Times New Roman"/>
              <a:cs typeface="Times New Roman"/>
              <a:sym typeface="Times New Roman"/>
            </a:endParaRPr>
          </a:p>
        </p:txBody>
      </p:sp>
      <p:sp>
        <p:nvSpPr>
          <p:cNvPr id="114" name="Google Shape;11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5" name="Google Shape;115;p23"/>
          <p:cNvPicPr preferRelativeResize="0"/>
          <p:nvPr/>
        </p:nvPicPr>
        <p:blipFill>
          <a:blip r:embed="rId3">
            <a:alphaModFix/>
          </a:blip>
          <a:stretch>
            <a:fillRect/>
          </a:stretch>
        </p:blipFill>
        <p:spPr>
          <a:xfrm>
            <a:off x="369100" y="1152467"/>
            <a:ext cx="8177449" cy="370048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GB" sz="1950">
                <a:solidFill>
                  <a:srgbClr val="4D4D4C"/>
                </a:solidFill>
                <a:latin typeface="Times New Roman"/>
                <a:ea typeface="Times New Roman"/>
                <a:cs typeface="Times New Roman"/>
                <a:sym typeface="Times New Roman"/>
              </a:rPr>
              <a:t>VIZ 1 — Average Points Per Game by Position</a:t>
            </a:r>
            <a:endParaRPr sz="1950">
              <a:solidFill>
                <a:srgbClr val="4D4D4C"/>
              </a:solidFill>
              <a:latin typeface="Times New Roman"/>
              <a:ea typeface="Times New Roman"/>
              <a:cs typeface="Times New Roman"/>
              <a:sym typeface="Times New Roman"/>
            </a:endParaRPr>
          </a:p>
          <a:p>
            <a:pPr indent="0" lvl="0" marL="0" rtl="0" algn="l">
              <a:spcBef>
                <a:spcPts val="0"/>
              </a:spcBef>
              <a:spcAft>
                <a:spcPts val="0"/>
              </a:spcAft>
              <a:buSzPts val="990"/>
              <a:buNone/>
            </a:pPr>
            <a:r>
              <a:t/>
            </a:r>
            <a:endParaRPr sz="3120"/>
          </a:p>
        </p:txBody>
      </p:sp>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400">
                <a:solidFill>
                  <a:srgbClr val="4D4D4C"/>
                </a:solidFill>
                <a:latin typeface="Times New Roman"/>
                <a:ea typeface="Times New Roman"/>
                <a:cs typeface="Times New Roman"/>
                <a:sym typeface="Times New Roman"/>
              </a:rPr>
              <a:t>A column chart displaying the average points per game for each of the 5 NBA positions across 590 players in the 2024-25 season.</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KEY INSIGHTS:→ Point Guards (PG) lead all positions with ~10.52 avg PPG confirming their primary ball-handling and scoring role</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Centers (C) have the lowest average at ~8.63 PPG their role is interior defense and rebounding, not scoring</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Power Forwards (PF) rank second at ~10.05 PPG showing the evolution of the stretch big man in modern NBA</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The difference between highest (PG: 10.52) and lowest  (C: 8.63) is only ~1.9 points — scoring is more evenly  distributed across positions than commonly assumed</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This is our first look at positional scoring differences: establishing the performance baseline for the entire analysis.</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a:p>
            <a:pPr indent="0" lvl="0" marL="76200" marR="76200" rtl="0" algn="r">
              <a:lnSpc>
                <a:spcPct val="100000"/>
              </a:lnSpc>
              <a:spcBef>
                <a:spcPts val="1200"/>
              </a:spcBef>
              <a:spcAft>
                <a:spcPts val="0"/>
              </a:spcAft>
              <a:buClr>
                <a:schemeClr val="dk1"/>
              </a:buClr>
              <a:buSzPts val="1100"/>
              <a:buFont typeface="Arial"/>
              <a:buNone/>
            </a:pPr>
            <a:r>
              <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0"/>
              </a:spcBef>
              <a:spcAft>
                <a:spcPts val="1200"/>
              </a:spcAft>
              <a:buNone/>
            </a:pPr>
            <a:r>
              <a:t/>
            </a:r>
            <a:endParaRPr sz="14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2400"/>
              </a:spcBef>
              <a:spcAft>
                <a:spcPts val="0"/>
              </a:spcAft>
              <a:buClr>
                <a:schemeClr val="dk1"/>
              </a:buClr>
              <a:buSzPct val="47826"/>
              <a:buFont typeface="Arial"/>
              <a:buNone/>
            </a:pPr>
            <a:r>
              <a:rPr b="1" lang="en-GB" sz="2300"/>
              <a:t>VIZ 2: Tableau Bar Chart</a:t>
            </a:r>
            <a:endParaRPr b="1" sz="2300"/>
          </a:p>
          <a:p>
            <a:pPr indent="0" lvl="0" marL="0" rtl="0" algn="l">
              <a:spcBef>
                <a:spcPts val="600"/>
              </a:spcBef>
              <a:spcAft>
                <a:spcPts val="0"/>
              </a:spcAft>
              <a:buNone/>
            </a:pPr>
            <a:r>
              <a:t/>
            </a:r>
            <a:endParaRPr/>
          </a:p>
        </p:txBody>
      </p:sp>
      <p:sp>
        <p:nvSpPr>
          <p:cNvPr id="127" name="Google Shape;12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8" name="Google Shape;128;p25"/>
          <p:cNvPicPr preferRelativeResize="0"/>
          <p:nvPr/>
        </p:nvPicPr>
        <p:blipFill>
          <a:blip r:embed="rId3">
            <a:alphaModFix/>
          </a:blip>
          <a:stretch>
            <a:fillRect/>
          </a:stretch>
        </p:blipFill>
        <p:spPr>
          <a:xfrm>
            <a:off x="121450" y="1017725"/>
            <a:ext cx="8710851" cy="37733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950">
                <a:solidFill>
                  <a:srgbClr val="4D4D4C"/>
                </a:solidFill>
                <a:latin typeface="Times New Roman"/>
                <a:ea typeface="Times New Roman"/>
                <a:cs typeface="Times New Roman"/>
                <a:sym typeface="Times New Roman"/>
              </a:rPr>
              <a:t>VIZ 1 — Average Points Per Game by Position</a:t>
            </a:r>
            <a:endParaRPr sz="3700">
              <a:latin typeface="Times New Roman"/>
              <a:ea typeface="Times New Roman"/>
              <a:cs typeface="Times New Roman"/>
              <a:sym typeface="Times New Roman"/>
            </a:endParaRPr>
          </a:p>
        </p:txBody>
      </p:sp>
      <p:sp>
        <p:nvSpPr>
          <p:cNvPr id="134" name="Google Shape;134;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75"/>
              <a:buNone/>
            </a:pPr>
            <a:r>
              <a:rPr lang="en-GB" sz="1400">
                <a:solidFill>
                  <a:srgbClr val="4D4D4C"/>
                </a:solidFill>
                <a:latin typeface="Times New Roman"/>
                <a:ea typeface="Times New Roman"/>
                <a:cs typeface="Times New Roman"/>
                <a:sym typeface="Times New Roman"/>
              </a:rPr>
              <a:t>Tableau's version of average points per game by position,</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275"/>
              <a:buNone/>
            </a:pPr>
            <a:r>
              <a:rPr lang="en-GB" sz="1400">
                <a:solidFill>
                  <a:srgbClr val="4D4D4C"/>
                </a:solidFill>
                <a:latin typeface="Times New Roman"/>
                <a:ea typeface="Times New Roman"/>
                <a:cs typeface="Times New Roman"/>
                <a:sym typeface="Times New Roman"/>
              </a:rPr>
              <a:t>with each bar color-coded by position for clear differentiation. Exact values labeled on top of each bar.</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275"/>
              <a:buNone/>
            </a:pPr>
            <a:r>
              <a:rPr lang="en-GB" sz="1400">
                <a:solidFill>
                  <a:srgbClr val="4D4D4C"/>
                </a:solidFill>
                <a:latin typeface="Times New Roman"/>
                <a:ea typeface="Times New Roman"/>
                <a:cs typeface="Times New Roman"/>
                <a:sym typeface="Times New Roman"/>
              </a:rPr>
              <a:t>KEY INSIGHTS:</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275"/>
              <a:buNone/>
            </a:pPr>
            <a:r>
              <a:rPr lang="en-GB" sz="1400">
                <a:solidFill>
                  <a:srgbClr val="4D4D4C"/>
                </a:solidFill>
                <a:latin typeface="Times New Roman"/>
                <a:ea typeface="Times New Roman"/>
                <a:cs typeface="Times New Roman"/>
                <a:sym typeface="Times New Roman"/>
              </a:rPr>
              <a:t>→ PG leads at 10.521 PPG — consistent with Power BI findings,  confirming data accuracy across both visualization tools</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275"/>
              <a:buNone/>
            </a:pPr>
            <a:r>
              <a:rPr lang="en-GB" sz="1400">
                <a:solidFill>
                  <a:srgbClr val="4D4D4C"/>
                </a:solidFill>
                <a:latin typeface="Times New Roman"/>
                <a:ea typeface="Times New Roman"/>
                <a:cs typeface="Times New Roman"/>
                <a:sym typeface="Times New Roman"/>
              </a:rPr>
              <a:t>→ Tableau's color-coding (blue=C, orange=PF, red=PG, teal=SF, green=SG) makes positional comparison instant</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275"/>
              <a:buNone/>
            </a:pPr>
            <a:r>
              <a:rPr lang="en-GB" sz="1400">
                <a:solidFill>
                  <a:srgbClr val="4D4D4C"/>
                </a:solidFill>
                <a:latin typeface="Times New Roman"/>
                <a:ea typeface="Times New Roman"/>
                <a:cs typeface="Times New Roman"/>
                <a:sym typeface="Times New Roman"/>
              </a:rPr>
              <a:t>→ The labeled values (8.631, 10.054, 10.521, 9.800, 9.581) provide precise reference points for positional analysis</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SzPts val="275"/>
              <a:buNone/>
            </a:pPr>
            <a:r>
              <a:rPr lang="en-GB" sz="1400">
                <a:solidFill>
                  <a:srgbClr val="4D4D4C"/>
                </a:solidFill>
                <a:latin typeface="Times New Roman"/>
                <a:ea typeface="Times New Roman"/>
                <a:cs typeface="Times New Roman"/>
                <a:sym typeface="Times New Roman"/>
              </a:rPr>
              <a:t>→ Cross-tool consistency: Both Tableau and Power BI produce identical results, validating our cleaned dataset</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1200"/>
              </a:spcAft>
              <a:buSzPts val="275"/>
              <a:buNone/>
            </a:pPr>
            <a:r>
              <a:rPr lang="en-GB" sz="1400">
                <a:solidFill>
                  <a:srgbClr val="4D4D4C"/>
                </a:solidFill>
                <a:latin typeface="Times New Roman"/>
                <a:ea typeface="Times New Roman"/>
                <a:cs typeface="Times New Roman"/>
                <a:sym typeface="Times New Roman"/>
              </a:rPr>
              <a:t>Tableau's automatic color-by-dimension and value labels make positional comparisons more visually intuitivecompared to Power BI's single-color default bars.</a:t>
            </a:r>
            <a:endParaRPr sz="1700">
              <a:solidFill>
                <a:srgbClr val="4D4D4C"/>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2400"/>
              </a:spcBef>
              <a:spcAft>
                <a:spcPts val="0"/>
              </a:spcAft>
              <a:buClr>
                <a:schemeClr val="dk1"/>
              </a:buClr>
              <a:buSzPct val="47826"/>
              <a:buFont typeface="Arial"/>
              <a:buNone/>
            </a:pPr>
            <a:r>
              <a:rPr b="1" lang="en-GB" sz="2300"/>
              <a:t>VIZ 3: Tableau PTS Box Plot</a:t>
            </a:r>
            <a:endParaRPr b="1" sz="2300"/>
          </a:p>
          <a:p>
            <a:pPr indent="0" lvl="0" marL="0" rtl="0" algn="l">
              <a:spcBef>
                <a:spcPts val="600"/>
              </a:spcBef>
              <a:spcAft>
                <a:spcPts val="0"/>
              </a:spcAft>
              <a:buNone/>
            </a:pPr>
            <a:r>
              <a:t/>
            </a:r>
            <a:endParaRPr/>
          </a:p>
        </p:txBody>
      </p:sp>
      <p:sp>
        <p:nvSpPr>
          <p:cNvPr id="140" name="Google Shape;140;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1" name="Google Shape;141;p27"/>
          <p:cNvPicPr preferRelativeResize="0"/>
          <p:nvPr/>
        </p:nvPicPr>
        <p:blipFill>
          <a:blip r:embed="rId3">
            <a:alphaModFix/>
          </a:blip>
          <a:stretch>
            <a:fillRect/>
          </a:stretch>
        </p:blipFill>
        <p:spPr>
          <a:xfrm>
            <a:off x="419100" y="1152475"/>
            <a:ext cx="7643799" cy="37576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400">
                <a:solidFill>
                  <a:srgbClr val="4D4D4C"/>
                </a:solidFill>
                <a:latin typeface="Times New Roman"/>
                <a:ea typeface="Times New Roman"/>
                <a:cs typeface="Times New Roman"/>
                <a:sym typeface="Times New Roman"/>
              </a:rPr>
              <a:t>TABLEAU PTS BOX PLOT</a:t>
            </a:r>
            <a:endParaRPr sz="2400">
              <a:latin typeface="Times New Roman"/>
              <a:ea typeface="Times New Roman"/>
              <a:cs typeface="Times New Roman"/>
              <a:sym typeface="Times New Roman"/>
            </a:endParaRPr>
          </a:p>
        </p:txBody>
      </p:sp>
      <p:sp>
        <p:nvSpPr>
          <p:cNvPr id="147" name="Google Shape;147;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GB" sz="1400">
                <a:solidFill>
                  <a:srgbClr val="4D4D4C"/>
                </a:solidFill>
                <a:latin typeface="Times New Roman"/>
                <a:ea typeface="Times New Roman"/>
                <a:cs typeface="Times New Roman"/>
                <a:sym typeface="Times New Roman"/>
              </a:rPr>
              <a:t>A box-and-whisker plot showing the full distribution of points per game for each position — not just the average,but the spread, median, range, and outliers for all 590 players.</a:t>
            </a:r>
            <a:endParaRPr sz="1400">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275"/>
              <a:buNone/>
            </a:pPr>
            <a:r>
              <a:rPr lang="en-GB" sz="1400">
                <a:solidFill>
                  <a:srgbClr val="4D4D4C"/>
                </a:solidFill>
                <a:latin typeface="Times New Roman"/>
                <a:ea typeface="Times New Roman"/>
                <a:cs typeface="Times New Roman"/>
                <a:sym typeface="Times New Roman"/>
              </a:rPr>
              <a:t>KEY INSIGHTS:</a:t>
            </a:r>
            <a:endParaRPr sz="1400">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275"/>
              <a:buNone/>
            </a:pPr>
            <a:r>
              <a:rPr lang="en-GB" sz="1400">
                <a:solidFill>
                  <a:srgbClr val="4D4D4C"/>
                </a:solidFill>
                <a:latin typeface="Times New Roman"/>
                <a:ea typeface="Times New Roman"/>
                <a:cs typeface="Times New Roman"/>
                <a:sym typeface="Times New Roman"/>
              </a:rPr>
              <a:t>→ PG has the highest median and widest spread — Point Guards  range from bench players (3-4 PPG) to superstars (32+ PPG</a:t>
            </a:r>
            <a:r>
              <a:rPr lang="en-GB" sz="1400">
                <a:solidFill>
                  <a:srgbClr val="4D4D4C"/>
                </a:solidFill>
                <a:latin typeface="Times New Roman"/>
                <a:ea typeface="Times New Roman"/>
                <a:cs typeface="Times New Roman"/>
                <a:sym typeface="Times New Roman"/>
              </a:rPr>
              <a:t>)</a:t>
            </a:r>
            <a:r>
              <a:rPr lang="en-GB" sz="1400">
                <a:solidFill>
                  <a:srgbClr val="4D4D4C"/>
                </a:solidFill>
                <a:latin typeface="Times New Roman"/>
                <a:ea typeface="Times New Roman"/>
                <a:cs typeface="Times New Roman"/>
                <a:sym typeface="Times New Roman"/>
              </a:rPr>
              <a:t> showing the biggest performance gap of any position</a:t>
            </a:r>
            <a:endParaRPr sz="1400">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275"/>
              <a:buNone/>
            </a:pPr>
            <a:r>
              <a:rPr lang="en-GB" sz="1400">
                <a:solidFill>
                  <a:srgbClr val="4D4D4C"/>
                </a:solidFill>
                <a:latin typeface="Times New Roman"/>
                <a:ea typeface="Times New Roman"/>
                <a:cs typeface="Times New Roman"/>
                <a:sym typeface="Times New Roman"/>
              </a:rPr>
              <a:t>→ SF (Small Forwards) show the second-highest median,reflecting the versatile scoring role in modern offenses</a:t>
            </a:r>
            <a:endParaRPr sz="1400">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275"/>
              <a:buNone/>
            </a:pPr>
            <a:r>
              <a:rPr lang="en-GB" sz="1400">
                <a:solidFill>
                  <a:srgbClr val="4D4D4C"/>
                </a:solidFill>
                <a:latin typeface="Times New Roman"/>
                <a:ea typeface="Times New Roman"/>
                <a:cs typeface="Times New Roman"/>
                <a:sym typeface="Times New Roman"/>
              </a:rPr>
              <a:t>→ C (Centers) show a tight cluster at lower values :most centers score modestly, with a few elite exceptions</a:t>
            </a:r>
            <a:endParaRPr sz="1400">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275"/>
              <a:buNone/>
            </a:pPr>
            <a:r>
              <a:rPr lang="en-GB" sz="1400">
                <a:solidFill>
                  <a:srgbClr val="4D4D4C"/>
                </a:solidFill>
                <a:latin typeface="Times New Roman"/>
                <a:ea typeface="Times New Roman"/>
                <a:cs typeface="Times New Roman"/>
                <a:sym typeface="Times New Roman"/>
              </a:rPr>
              <a:t>  like Nikola Jokic (29.6 PPG) as clear outliers</a:t>
            </a:r>
            <a:endParaRPr sz="1400">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275"/>
              <a:buNone/>
            </a:pPr>
            <a:r>
              <a:rPr lang="en-GB" sz="1400">
                <a:solidFill>
                  <a:srgbClr val="4D4D4C"/>
                </a:solidFill>
                <a:latin typeface="Times New Roman"/>
                <a:ea typeface="Times New Roman"/>
                <a:cs typeface="Times New Roman"/>
                <a:sym typeface="Times New Roman"/>
              </a:rPr>
              <a:t>→ The whiskers reveal that EVERY position has significant  variance — no position is uniformly high or low scoring</a:t>
            </a:r>
            <a:endParaRPr sz="1400">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275"/>
              <a:buNone/>
            </a:pPr>
            <a:r>
              <a:rPr lang="en-GB" sz="1400">
                <a:solidFill>
                  <a:srgbClr val="4D4D4C"/>
                </a:solidFill>
                <a:latin typeface="Times New Roman"/>
                <a:ea typeface="Times New Roman"/>
                <a:cs typeface="Times New Roman"/>
                <a:sym typeface="Times New Roman"/>
              </a:rPr>
              <a:t>WHY BOX PLOT OVER BAR CHART:The bar chart (VIZ 1 &amp; 2) only shows averages. This box plot reveals the FULL story the range,outliers, and spread that averages hide completely.</a:t>
            </a:r>
            <a:endParaRPr sz="14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2400"/>
              </a:spcBef>
              <a:spcAft>
                <a:spcPts val="0"/>
              </a:spcAft>
              <a:buClr>
                <a:schemeClr val="dk1"/>
              </a:buClr>
              <a:buSzPct val="47826"/>
              <a:buFont typeface="Arial"/>
              <a:buNone/>
            </a:pPr>
            <a:r>
              <a:rPr b="1" lang="en-GB" sz="2300"/>
              <a:t> Tableau REB Box Plot</a:t>
            </a:r>
            <a:endParaRPr b="1" sz="2300"/>
          </a:p>
          <a:p>
            <a:pPr indent="0" lvl="0" marL="0" rtl="0" algn="l">
              <a:spcBef>
                <a:spcPts val="600"/>
              </a:spcBef>
              <a:spcAft>
                <a:spcPts val="0"/>
              </a:spcAft>
              <a:buNone/>
            </a:pPr>
            <a:r>
              <a:t/>
            </a:r>
            <a:endParaRPr/>
          </a:p>
        </p:txBody>
      </p:sp>
      <p:sp>
        <p:nvSpPr>
          <p:cNvPr id="153" name="Google Shape;153;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4" name="Google Shape;154;p29"/>
          <p:cNvPicPr preferRelativeResize="0"/>
          <p:nvPr/>
        </p:nvPicPr>
        <p:blipFill>
          <a:blip r:embed="rId3">
            <a:alphaModFix/>
          </a:blip>
          <a:stretch>
            <a:fillRect/>
          </a:stretch>
        </p:blipFill>
        <p:spPr>
          <a:xfrm>
            <a:off x="311700" y="933450"/>
            <a:ext cx="7733626" cy="39766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2400"/>
              </a:spcBef>
              <a:spcAft>
                <a:spcPts val="0"/>
              </a:spcAft>
              <a:buClr>
                <a:schemeClr val="dk1"/>
              </a:buClr>
              <a:buSzPct val="47826"/>
              <a:buFont typeface="Arial"/>
              <a:buNone/>
            </a:pPr>
            <a:r>
              <a:rPr b="1" lang="en-GB" sz="2300"/>
              <a:t> Tableau REB Box Plot</a:t>
            </a:r>
            <a:endParaRPr b="1" sz="2300"/>
          </a:p>
          <a:p>
            <a:pPr indent="0" lvl="0" marL="0" rtl="0" algn="l">
              <a:spcBef>
                <a:spcPts val="600"/>
              </a:spcBef>
              <a:spcAft>
                <a:spcPts val="0"/>
              </a:spcAft>
              <a:buClr>
                <a:schemeClr val="dk1"/>
              </a:buClr>
              <a:buSzPct val="39286"/>
              <a:buFont typeface="Arial"/>
              <a:buNone/>
            </a:pPr>
            <a:r>
              <a:t/>
            </a:r>
            <a:endParaRPr/>
          </a:p>
          <a:p>
            <a:pPr indent="0" lvl="0" marL="0" rtl="0" algn="l">
              <a:spcBef>
                <a:spcPts val="0"/>
              </a:spcBef>
              <a:spcAft>
                <a:spcPts val="0"/>
              </a:spcAft>
              <a:buNone/>
            </a:pPr>
            <a:r>
              <a:t/>
            </a:r>
            <a:endParaRPr/>
          </a:p>
        </p:txBody>
      </p:sp>
      <p:sp>
        <p:nvSpPr>
          <p:cNvPr id="160" name="Google Shape;160;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400">
                <a:solidFill>
                  <a:srgbClr val="4D4D4C"/>
                </a:solidFill>
                <a:latin typeface="Times New Roman"/>
                <a:ea typeface="Times New Roman"/>
                <a:cs typeface="Times New Roman"/>
                <a:sym typeface="Times New Roman"/>
              </a:rPr>
              <a:t>A distribution plot comparing total rebounds per game across all 5 positions, revealing the strong positional</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separation in rebounding roles in the NBA</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Centers (C) completely dominate rebounding — their median is dramatically higher than every other position,</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with total TRB sum of ~650 confirming interior dominance</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Power Forwards (PF) are clear second with ~450 total — frontcourt players (C + PF) together own the glass</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Point Guards (PG) have the lowest rebounding at ~260 —guards focus on ball handling and scoring, not boards</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The separation between frontcourt (C, PF) and backcourt(PG, SG) is the most dramatic positional split of any</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statistical category in this entire analysis</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This confirms: rebounding is the most position-defined  stat in the NBA — more so than scoring or assists</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Rebounding tells us more clearly than any other stat exactly what role each position plays on the court.</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a:p>
            <a:pPr indent="0" lvl="0" marL="76200" marR="76200" rtl="0" algn="r">
              <a:lnSpc>
                <a:spcPct val="100000"/>
              </a:lnSpc>
              <a:spcBef>
                <a:spcPts val="1200"/>
              </a:spcBef>
              <a:spcAft>
                <a:spcPts val="0"/>
              </a:spcAft>
              <a:buClr>
                <a:schemeClr val="dk1"/>
              </a:buClr>
              <a:buSzPts val="1100"/>
              <a:buFont typeface="Arial"/>
              <a:buNone/>
            </a:pPr>
            <a:r>
              <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0"/>
              </a:spcBef>
              <a:spcAft>
                <a:spcPts val="1200"/>
              </a:spcAft>
              <a:buNone/>
            </a:pPr>
            <a:r>
              <a:t/>
            </a:r>
            <a:endParaRPr sz="14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2400"/>
              </a:spcBef>
              <a:spcAft>
                <a:spcPts val="0"/>
              </a:spcAft>
              <a:buClr>
                <a:schemeClr val="dk1"/>
              </a:buClr>
              <a:buSzPct val="47826"/>
              <a:buFont typeface="Arial"/>
              <a:buNone/>
            </a:pPr>
            <a:r>
              <a:rPr b="1" lang="en-GB" sz="2300"/>
              <a:t>VIZ 5: Power BI Top 15 Table</a:t>
            </a:r>
            <a:endParaRPr b="1" sz="2300"/>
          </a:p>
          <a:p>
            <a:pPr indent="0" lvl="0" marL="0" rtl="0" algn="l">
              <a:spcBef>
                <a:spcPts val="600"/>
              </a:spcBef>
              <a:spcAft>
                <a:spcPts val="0"/>
              </a:spcAft>
              <a:buNone/>
            </a:pPr>
            <a:r>
              <a:t/>
            </a:r>
            <a:endParaRPr/>
          </a:p>
        </p:txBody>
      </p:sp>
      <p:sp>
        <p:nvSpPr>
          <p:cNvPr id="166" name="Google Shape;166;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7" name="Google Shape;167;p31"/>
          <p:cNvPicPr preferRelativeResize="0"/>
          <p:nvPr/>
        </p:nvPicPr>
        <p:blipFill>
          <a:blip r:embed="rId3">
            <a:alphaModFix/>
          </a:blip>
          <a:stretch>
            <a:fillRect/>
          </a:stretch>
        </p:blipFill>
        <p:spPr>
          <a:xfrm>
            <a:off x="1879150" y="969150"/>
            <a:ext cx="5385701" cy="43934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2400"/>
              </a:spcBef>
              <a:spcAft>
                <a:spcPts val="0"/>
              </a:spcAft>
              <a:buClr>
                <a:schemeClr val="dk1"/>
              </a:buClr>
              <a:buSzPct val="47826"/>
              <a:buFont typeface="Arial"/>
              <a:buNone/>
            </a:pPr>
            <a:r>
              <a:rPr b="1" lang="en-GB" sz="2300"/>
              <a:t>Power BI Top 15 Table</a:t>
            </a:r>
            <a:endParaRPr b="1" sz="2300"/>
          </a:p>
          <a:p>
            <a:pPr indent="0" lvl="0" marL="0" rtl="0" algn="l">
              <a:spcBef>
                <a:spcPts val="600"/>
              </a:spcBef>
              <a:spcAft>
                <a:spcPts val="0"/>
              </a:spcAft>
              <a:buNone/>
            </a:pPr>
            <a:r>
              <a:t/>
            </a:r>
            <a:endParaRPr/>
          </a:p>
        </p:txBody>
      </p:sp>
      <p:sp>
        <p:nvSpPr>
          <p:cNvPr id="173" name="Google Shape;173;p3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400">
                <a:solidFill>
                  <a:srgbClr val="4D4D4C"/>
                </a:solidFill>
                <a:latin typeface="Times New Roman"/>
                <a:ea typeface="Times New Roman"/>
                <a:cs typeface="Times New Roman"/>
                <a:sym typeface="Times New Roman"/>
              </a:rPr>
              <a:t>A filtered and sorted table displaying the top 15 highest-scoring NBA players in the 2024-25 season,</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showing Player, Position, Team, and Points Per Game.</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KEY INSIGHTS:</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Shai Gilgeous-Alexander (OKC) leads the league at 32.70 PPG — the only player above 32 PPG this season</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Giannis Antetokounmpo (MIL) at 30.40 PPG is the top scoring big man, challenging traditional position roles</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Nikola Jokic (DEN) at 29.60 PPG proves Centers can be elite scorers — breaking the "centers don't score" myth</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Point Guards dominate the top 15 list — PG appears most frequently, confirming the modern NBA is guard-driven</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The gap between #1 (SGA: 32.7) and #15 (LaMelo: 25.2)  is only 7.5 points — the elite tier is tightly clustered</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Multiple teams appear: OKC, MIL, DEN, MIN, BOS  elite scoring is spread across the entire league.</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1200"/>
              </a:spcAft>
              <a:buNone/>
            </a:pPr>
            <a:r>
              <a:rPr lang="en-GB" sz="1400">
                <a:solidFill>
                  <a:srgbClr val="4D4D4C"/>
                </a:solidFill>
                <a:latin typeface="Times New Roman"/>
                <a:ea typeface="Times New Roman"/>
                <a:cs typeface="Times New Roman"/>
                <a:sym typeface="Times New Roman"/>
              </a:rPr>
              <a:t>Putting real names and numbers to the elite tier weidentified in our distribution analysis.</a:t>
            </a:r>
            <a:endParaRPr sz="14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2400"/>
              </a:spcBef>
              <a:spcAft>
                <a:spcPts val="0"/>
              </a:spcAft>
              <a:buClr>
                <a:schemeClr val="dk1"/>
              </a:buClr>
              <a:buSzPct val="47826"/>
              <a:buFont typeface="Arial"/>
              <a:buNone/>
            </a:pPr>
            <a:r>
              <a:rPr b="1" lang="en-GB" sz="2300"/>
              <a:t>Power BI FG% vs PTS Scatter</a:t>
            </a:r>
            <a:endParaRPr b="1" sz="2300"/>
          </a:p>
          <a:p>
            <a:pPr indent="0" lvl="0" marL="0" rtl="0" algn="l">
              <a:spcBef>
                <a:spcPts val="600"/>
              </a:spcBef>
              <a:spcAft>
                <a:spcPts val="0"/>
              </a:spcAft>
              <a:buNone/>
            </a:pPr>
            <a:r>
              <a:t/>
            </a:r>
            <a:endParaRPr/>
          </a:p>
        </p:txBody>
      </p:sp>
      <p:sp>
        <p:nvSpPr>
          <p:cNvPr id="179" name="Google Shape;179;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0" name="Google Shape;180;p33"/>
          <p:cNvPicPr preferRelativeResize="0"/>
          <p:nvPr/>
        </p:nvPicPr>
        <p:blipFill>
          <a:blip r:embed="rId3">
            <a:alphaModFix/>
          </a:blip>
          <a:stretch>
            <a:fillRect/>
          </a:stretch>
        </p:blipFill>
        <p:spPr>
          <a:xfrm>
            <a:off x="1276349" y="1017725"/>
            <a:ext cx="6385100" cy="44824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2400"/>
              </a:spcBef>
              <a:spcAft>
                <a:spcPts val="0"/>
              </a:spcAft>
              <a:buClr>
                <a:schemeClr val="dk1"/>
              </a:buClr>
              <a:buSzPct val="47826"/>
              <a:buFont typeface="Arial"/>
              <a:buNone/>
            </a:pPr>
            <a:r>
              <a:rPr b="1" lang="en-GB" sz="2300"/>
              <a:t>Power BI FG% vs PTS Scatter</a:t>
            </a:r>
            <a:endParaRPr b="1" sz="2300"/>
          </a:p>
          <a:p>
            <a:pPr indent="0" lvl="0" marL="0" rtl="0" algn="l">
              <a:spcBef>
                <a:spcPts val="600"/>
              </a:spcBef>
              <a:spcAft>
                <a:spcPts val="0"/>
              </a:spcAft>
              <a:buNone/>
            </a:pPr>
            <a:r>
              <a:t/>
            </a:r>
            <a:endParaRPr/>
          </a:p>
        </p:txBody>
      </p:sp>
      <p:sp>
        <p:nvSpPr>
          <p:cNvPr id="186" name="Google Shape;186;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400">
                <a:solidFill>
                  <a:srgbClr val="4D4D4C"/>
                </a:solidFill>
                <a:latin typeface="Times New Roman"/>
                <a:ea typeface="Times New Roman"/>
                <a:cs typeface="Times New Roman"/>
                <a:sym typeface="Times New Roman"/>
              </a:rPr>
              <a:t>A scatter plot with one dot per player showing the relationship between shooting efficiency (FG%) on the</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X-axis and scoring output (PTS) on the Y-axis.Each color represents a different position.</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WEAK positive correlation — high FG% does NOT guarantee  high scoring. Many high-FG% players score modestly</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The highest scorers (25-35 PPG, top of chart) cluster  around FG% of 0.45-0.55 — not the highest FG% range</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Centers (C, blue dots) appear right side of X-axis with high FG% (0.55-0.75) due to interior high-percentage shots but their PTS remains moderate — they are efficient, not high-volume</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Guards (PG/SG) scatter widely across all FG% values :they take difficult long-range shots lowering efficiency</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but are still the highest scorers due to pure volume</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 Scoring in the NBA is about VOLUME andUSAGE, not just shooting efficiency alone</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400">
                <a:solidFill>
                  <a:srgbClr val="4D4D4C"/>
                </a:solidFill>
                <a:latin typeface="Times New Roman"/>
                <a:ea typeface="Times New Roman"/>
                <a:cs typeface="Times New Roman"/>
                <a:sym typeface="Times New Roman"/>
              </a:rPr>
              <a:t>First correlation explored — efficiency vs. volume trade-offreveals that FG% and scoring tell very different stories.</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a:p>
            <a:pPr indent="0" lvl="0" marL="76200" marR="76200" rtl="0" algn="r">
              <a:lnSpc>
                <a:spcPct val="100000"/>
              </a:lnSpc>
              <a:spcBef>
                <a:spcPts val="1200"/>
              </a:spcBef>
              <a:spcAft>
                <a:spcPts val="0"/>
              </a:spcAft>
              <a:buClr>
                <a:schemeClr val="dk1"/>
              </a:buClr>
              <a:buSzPts val="1100"/>
              <a:buFont typeface="Arial"/>
              <a:buNone/>
            </a:pPr>
            <a:r>
              <a:t/>
            </a:r>
            <a:endParaRPr sz="1400">
              <a:solidFill>
                <a:srgbClr val="4D4D4C"/>
              </a:solidFill>
              <a:latin typeface="Times New Roman"/>
              <a:ea typeface="Times New Roman"/>
              <a:cs typeface="Times New Roman"/>
              <a:sym typeface="Times New Roman"/>
            </a:endParaRPr>
          </a:p>
          <a:p>
            <a:pPr indent="0" lvl="0" marL="0" rtl="0" algn="l">
              <a:lnSpc>
                <a:spcPct val="100000"/>
              </a:lnSpc>
              <a:spcBef>
                <a:spcPts val="0"/>
              </a:spcBef>
              <a:spcAft>
                <a:spcPts val="1200"/>
              </a:spcAft>
              <a:buNone/>
            </a:pPr>
            <a:r>
              <a:t/>
            </a:r>
            <a:endParaRPr sz="14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2400"/>
              </a:spcBef>
              <a:spcAft>
                <a:spcPts val="0"/>
              </a:spcAft>
              <a:buClr>
                <a:schemeClr val="dk1"/>
              </a:buClr>
              <a:buSzPct val="47826"/>
              <a:buFont typeface="Arial"/>
              <a:buNone/>
            </a:pPr>
            <a:r>
              <a:rPr b="1" lang="en-GB" sz="2300"/>
              <a:t>Tableau USG% vs PER Scatter</a:t>
            </a:r>
            <a:endParaRPr b="1" sz="2300"/>
          </a:p>
          <a:p>
            <a:pPr indent="0" lvl="0" marL="0" rtl="0" algn="l">
              <a:spcBef>
                <a:spcPts val="600"/>
              </a:spcBef>
              <a:spcAft>
                <a:spcPts val="0"/>
              </a:spcAft>
              <a:buNone/>
            </a:pPr>
            <a:r>
              <a:t/>
            </a:r>
            <a:endParaRPr/>
          </a:p>
        </p:txBody>
      </p:sp>
      <p:sp>
        <p:nvSpPr>
          <p:cNvPr id="192" name="Google Shape;192;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3" name="Google Shape;193;p35"/>
          <p:cNvPicPr preferRelativeResize="0"/>
          <p:nvPr/>
        </p:nvPicPr>
        <p:blipFill>
          <a:blip r:embed="rId3">
            <a:alphaModFix/>
          </a:blip>
          <a:stretch>
            <a:fillRect/>
          </a:stretch>
        </p:blipFill>
        <p:spPr>
          <a:xfrm>
            <a:off x="1448125" y="1093000"/>
            <a:ext cx="6576349" cy="39957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2400"/>
              </a:spcBef>
              <a:spcAft>
                <a:spcPts val="0"/>
              </a:spcAft>
              <a:buClr>
                <a:schemeClr val="dk1"/>
              </a:buClr>
              <a:buSzPct val="47826"/>
              <a:buFont typeface="Arial"/>
              <a:buNone/>
            </a:pPr>
            <a:r>
              <a:rPr b="1" lang="en-GB" sz="2300"/>
              <a:t>Tableau USG% vs PER Scatter</a:t>
            </a:r>
            <a:endParaRPr b="1" sz="2300"/>
          </a:p>
          <a:p>
            <a:pPr indent="0" lvl="0" marL="0" rtl="0" algn="l">
              <a:spcBef>
                <a:spcPts val="600"/>
              </a:spcBef>
              <a:spcAft>
                <a:spcPts val="0"/>
              </a:spcAft>
              <a:buClr>
                <a:schemeClr val="dk1"/>
              </a:buClr>
              <a:buSzPct val="39286"/>
              <a:buFont typeface="Arial"/>
              <a:buNone/>
            </a:pPr>
            <a:r>
              <a:t/>
            </a:r>
            <a:endParaRPr/>
          </a:p>
          <a:p>
            <a:pPr indent="0" lvl="0" marL="0" rtl="0" algn="l">
              <a:spcBef>
                <a:spcPts val="0"/>
              </a:spcBef>
              <a:spcAft>
                <a:spcPts val="0"/>
              </a:spcAft>
              <a:buNone/>
            </a:pPr>
            <a:r>
              <a:t/>
            </a:r>
            <a:endParaRPr/>
          </a:p>
        </p:txBody>
      </p:sp>
      <p:sp>
        <p:nvSpPr>
          <p:cNvPr id="199" name="Google Shape;199;p36"/>
          <p:cNvSpPr txBox="1"/>
          <p:nvPr>
            <p:ph idx="1" type="body"/>
          </p:nvPr>
        </p:nvSpPr>
        <p:spPr>
          <a:xfrm>
            <a:off x="311700" y="101772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200">
                <a:solidFill>
                  <a:srgbClr val="4D4D4C"/>
                </a:solidFill>
                <a:latin typeface="Times New Roman"/>
                <a:ea typeface="Times New Roman"/>
                <a:cs typeface="Times New Roman"/>
                <a:sym typeface="Times New Roman"/>
              </a:rPr>
              <a:t>WHAT IT SHOWS:</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200">
                <a:solidFill>
                  <a:srgbClr val="4D4D4C"/>
                </a:solidFill>
                <a:latin typeface="Times New Roman"/>
                <a:ea typeface="Times New Roman"/>
                <a:cs typeface="Times New Roman"/>
                <a:sym typeface="Times New Roman"/>
              </a:rPr>
              <a:t>A scatter plot with one dot per player comparing Usage Rate (USG%) on X-axis vs Player Efficiency Rating (PER) on Y-axis, colored by position with separate linear trend lines for each position.</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200">
                <a:solidFill>
                  <a:srgbClr val="4D4D4C"/>
                </a:solidFill>
                <a:latin typeface="Times New Roman"/>
                <a:ea typeface="Times New Roman"/>
                <a:cs typeface="Times New Roman"/>
                <a:sym typeface="Times New Roman"/>
              </a:rPr>
              <a:t>→ POSITIVE CORRELATION across all positions   as USG% increases, PER generally increases too</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200">
                <a:solidFill>
                  <a:srgbClr val="4D4D4C"/>
                </a:solidFill>
                <a:latin typeface="Times New Roman"/>
                <a:ea typeface="Times New Roman"/>
                <a:cs typeface="Times New Roman"/>
                <a:sym typeface="Times New Roman"/>
              </a:rPr>
              <a:t>  confirming that coaches give the ball to their best players</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200">
                <a:solidFill>
                  <a:srgbClr val="4D4D4C"/>
                </a:solidFill>
                <a:latin typeface="Times New Roman"/>
                <a:ea typeface="Times New Roman"/>
                <a:cs typeface="Times New Roman"/>
                <a:sym typeface="Times New Roman"/>
              </a:rPr>
              <a:t>→ Each position has its own trend line showing different efficiency slopes — Centers have the steepest slope</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200">
                <a:solidFill>
                  <a:srgbClr val="4D4D4C"/>
                </a:solidFill>
                <a:latin typeface="Times New Roman"/>
                <a:ea typeface="Times New Roman"/>
                <a:cs typeface="Times New Roman"/>
                <a:sym typeface="Times New Roman"/>
              </a:rPr>
              <a:t>  meaning small usage increases yield large PER gains for bigs</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200">
                <a:solidFill>
                  <a:srgbClr val="4D4D4C"/>
                </a:solidFill>
                <a:latin typeface="Times New Roman"/>
                <a:ea typeface="Times New Roman"/>
                <a:cs typeface="Times New Roman"/>
                <a:sym typeface="Times New Roman"/>
              </a:rPr>
              <a:t>→ Top-right cluster (high USG%, high PER) = true superstars: players like SGA, Giannis, Jokic appear here</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200">
                <a:solidFill>
                  <a:srgbClr val="4D4D4C"/>
                </a:solidFill>
                <a:latin typeface="Times New Roman"/>
                <a:ea typeface="Times New Roman"/>
                <a:cs typeface="Times New Roman"/>
                <a:sym typeface="Times New Roman"/>
              </a:rPr>
              <a:t>→ Bottom-left cluster (low USG%, low PER) = bench/role players  who rarely touch the ball and contribute minimally</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200">
                <a:solidFill>
                  <a:srgbClr val="4D4D4C"/>
                </a:solidFill>
                <a:latin typeface="Times New Roman"/>
                <a:ea typeface="Times New Roman"/>
                <a:cs typeface="Times New Roman"/>
                <a:sym typeface="Times New Roman"/>
              </a:rPr>
              <a:t>→ Outliers above trend lines = hidden gem players   low usage but surprisingly high efficiency (undervalued)</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200">
                <a:solidFill>
                  <a:srgbClr val="4D4D4C"/>
                </a:solidFill>
                <a:latin typeface="Times New Roman"/>
                <a:ea typeface="Times New Roman"/>
                <a:cs typeface="Times New Roman"/>
                <a:sym typeface="Times New Roman"/>
              </a:rPr>
              <a:t>→ Tableau's per-position trend lines (5 separate lines) reveal that this relationship holds TRUE for every</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200">
                <a:solidFill>
                  <a:srgbClr val="4D4D4C"/>
                </a:solidFill>
                <a:latin typeface="Times New Roman"/>
                <a:ea typeface="Times New Roman"/>
                <a:cs typeface="Times New Roman"/>
                <a:sym typeface="Times New Roman"/>
              </a:rPr>
              <a:t>  single position independently — not just overall This is the most important correlation in our analysis —USG% is the strongest predictor of player impact (PER)and sets the foundation for Project 2 salary analysis.</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1200"/>
              </a:spcAft>
              <a:buNone/>
            </a:pPr>
            <a:r>
              <a:t/>
            </a:r>
            <a:endParaRPr sz="1200">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2400"/>
              </a:spcBef>
              <a:spcAft>
                <a:spcPts val="0"/>
              </a:spcAft>
              <a:buClr>
                <a:schemeClr val="dk1"/>
              </a:buClr>
              <a:buSzPct val="47826"/>
              <a:buFont typeface="Arial"/>
              <a:buNone/>
            </a:pPr>
            <a:r>
              <a:rPr b="1" lang="en-GB" sz="2300"/>
              <a:t>Power BI USG% vs PER Scatter</a:t>
            </a:r>
            <a:endParaRPr b="1" sz="2300"/>
          </a:p>
          <a:p>
            <a:pPr indent="0" lvl="0" marL="0" rtl="0" algn="l">
              <a:spcBef>
                <a:spcPts val="600"/>
              </a:spcBef>
              <a:spcAft>
                <a:spcPts val="0"/>
              </a:spcAft>
              <a:buNone/>
            </a:pPr>
            <a:r>
              <a:t/>
            </a:r>
            <a:endParaRPr/>
          </a:p>
        </p:txBody>
      </p:sp>
      <p:sp>
        <p:nvSpPr>
          <p:cNvPr id="205" name="Google Shape;205;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6" name="Google Shape;206;p37"/>
          <p:cNvPicPr preferRelativeResize="0"/>
          <p:nvPr/>
        </p:nvPicPr>
        <p:blipFill>
          <a:blip r:embed="rId3">
            <a:alphaModFix/>
          </a:blip>
          <a:stretch>
            <a:fillRect/>
          </a:stretch>
        </p:blipFill>
        <p:spPr>
          <a:xfrm>
            <a:off x="152400" y="1683550"/>
            <a:ext cx="8520602" cy="35296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2400"/>
              </a:spcBef>
              <a:spcAft>
                <a:spcPts val="0"/>
              </a:spcAft>
              <a:buClr>
                <a:schemeClr val="dk1"/>
              </a:buClr>
              <a:buSzPct val="47826"/>
              <a:buFont typeface="Arial"/>
              <a:buNone/>
            </a:pPr>
            <a:r>
              <a:rPr b="1" lang="en-GB" sz="2300"/>
              <a:t>Power BI USG% vs PER Scatter</a:t>
            </a:r>
            <a:endParaRPr b="1" sz="2300"/>
          </a:p>
          <a:p>
            <a:pPr indent="0" lvl="0" marL="0" rtl="0" algn="l">
              <a:spcBef>
                <a:spcPts val="600"/>
              </a:spcBef>
              <a:spcAft>
                <a:spcPts val="0"/>
              </a:spcAft>
              <a:buNone/>
            </a:pPr>
            <a:r>
              <a:t/>
            </a:r>
            <a:endParaRPr/>
          </a:p>
        </p:txBody>
      </p:sp>
      <p:sp>
        <p:nvSpPr>
          <p:cNvPr id="212" name="Google Shape;212;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200">
                <a:solidFill>
                  <a:srgbClr val="4D4D4C"/>
                </a:solidFill>
                <a:latin typeface="Times New Roman"/>
                <a:ea typeface="Times New Roman"/>
                <a:cs typeface="Times New Roman"/>
                <a:sym typeface="Times New Roman"/>
              </a:rPr>
              <a:t>Power BI's version of the USG% vs PER scatter plot,providing cross-tool validation of the same correlation found in Tableau, with the same 590-player datasett</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200">
                <a:solidFill>
                  <a:srgbClr val="4D4D4C"/>
                </a:solidFill>
                <a:latin typeface="Times New Roman"/>
                <a:ea typeface="Times New Roman"/>
                <a:cs typeface="Times New Roman"/>
                <a:sym typeface="Times New Roman"/>
              </a:rPr>
              <a:t>→ Results are CONSISTENT with Tableau (VIZ 7) —  both tools confirm the positive USG% to PER relationship proving our data cleaning and analysis is accurate</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200">
                <a:solidFill>
                  <a:srgbClr val="4D4D4C"/>
                </a:solidFill>
                <a:latin typeface="Times New Roman"/>
                <a:ea typeface="Times New Roman"/>
                <a:cs typeface="Times New Roman"/>
                <a:sym typeface="Times New Roman"/>
              </a:rPr>
              <a:t>→ The extreme outlier at top-right (USG%≈35+, PER≈30+) is almost certainly Nikola Jokic — the most efficient high-usage player in the entire NBA</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200">
                <a:solidFill>
                  <a:srgbClr val="4D4D4C"/>
                </a:solidFill>
                <a:latin typeface="Times New Roman"/>
                <a:ea typeface="Times New Roman"/>
                <a:cs typeface="Times New Roman"/>
                <a:sym typeface="Times New Roman"/>
              </a:rPr>
              <a:t>→ Power BI shows the data in aggregated form (Average per player)  making the central cluster more visible than Tableau's  individual player dots — both views add value</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200">
                <a:solidFill>
                  <a:srgbClr val="4D4D4C"/>
                </a:solidFill>
                <a:latin typeface="Times New Roman"/>
                <a:ea typeface="Times New Roman"/>
                <a:cs typeface="Times New Roman"/>
                <a:sym typeface="Times New Roman"/>
              </a:rPr>
              <a:t>→ Players below PER=10 with moderate usage represent inefficient role players being overused by their teams</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200">
                <a:solidFill>
                  <a:srgbClr val="4D4D4C"/>
                </a:solidFill>
                <a:latin typeface="Times New Roman"/>
                <a:ea typeface="Times New Roman"/>
                <a:cs typeface="Times New Roman"/>
                <a:sym typeface="Times New Roman"/>
              </a:rPr>
              <a:t>→ The positive trend is clear: teams should maximize usage for their most efficient players</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GB" sz="1200">
                <a:solidFill>
                  <a:srgbClr val="4D4D4C"/>
                </a:solidFill>
                <a:latin typeface="Times New Roman"/>
                <a:ea typeface="Times New Roman"/>
                <a:cs typeface="Times New Roman"/>
                <a:sym typeface="Times New Roman"/>
              </a:rPr>
              <a:t>CROSS-TOOL VALIDATION:Having both Tableau AND Power BI confirm identical patterns</a:t>
            </a:r>
            <a:endParaRPr sz="1200">
              <a:solidFill>
                <a:srgbClr val="4D4D4C"/>
              </a:solidFill>
              <a:latin typeface="Times New Roman"/>
              <a:ea typeface="Times New Roman"/>
              <a:cs typeface="Times New Roman"/>
              <a:sym typeface="Times New Roman"/>
            </a:endParaRPr>
          </a:p>
          <a:p>
            <a:pPr indent="0" lvl="0" marL="0" rtl="0" algn="l">
              <a:lnSpc>
                <a:spcPct val="100000"/>
              </a:lnSpc>
              <a:spcBef>
                <a:spcPts val="1200"/>
              </a:spcBef>
              <a:spcAft>
                <a:spcPts val="1200"/>
              </a:spcAft>
              <a:buNone/>
            </a:pPr>
            <a:r>
              <a:rPr lang="en-GB" sz="1200">
                <a:solidFill>
                  <a:srgbClr val="4D4D4C"/>
                </a:solidFill>
                <a:latin typeface="Times New Roman"/>
                <a:ea typeface="Times New Roman"/>
                <a:cs typeface="Times New Roman"/>
                <a:sym typeface="Times New Roman"/>
              </a:rPr>
              <a:t>gives us high confidence in our analytical conclusions.This dual-tool approach is a best practice in data visualization.</a:t>
            </a:r>
            <a:endParaRPr sz="1200">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2400"/>
              </a:spcBef>
              <a:spcAft>
                <a:spcPts val="0"/>
              </a:spcAft>
              <a:buClr>
                <a:schemeClr val="dk1"/>
              </a:buClr>
              <a:buSzPct val="47826"/>
              <a:buFont typeface="Arial"/>
              <a:buNone/>
            </a:pPr>
            <a:r>
              <a:rPr b="1" lang="en-GB" sz="2300"/>
              <a:t>Tableau Dashboard</a:t>
            </a:r>
            <a:endParaRPr b="1" sz="2300"/>
          </a:p>
          <a:p>
            <a:pPr indent="0" lvl="0" marL="0" rtl="0" algn="l">
              <a:spcBef>
                <a:spcPts val="600"/>
              </a:spcBef>
              <a:spcAft>
                <a:spcPts val="0"/>
              </a:spcAft>
              <a:buNone/>
            </a:pPr>
            <a:r>
              <a:t/>
            </a:r>
            <a:endParaRPr/>
          </a:p>
        </p:txBody>
      </p:sp>
      <p:sp>
        <p:nvSpPr>
          <p:cNvPr id="218" name="Google Shape;218;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9" name="Google Shape;219;p39"/>
          <p:cNvPicPr preferRelativeResize="0"/>
          <p:nvPr/>
        </p:nvPicPr>
        <p:blipFill>
          <a:blip r:embed="rId3">
            <a:alphaModFix/>
          </a:blip>
          <a:stretch>
            <a:fillRect/>
          </a:stretch>
        </p:blipFill>
        <p:spPr>
          <a:xfrm>
            <a:off x="311700" y="1088225"/>
            <a:ext cx="6441526" cy="420767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5" name="Google Shape;225;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GB" sz="1400">
                <a:solidFill>
                  <a:srgbClr val="4D4D4C"/>
                </a:solidFill>
                <a:latin typeface="Times New Roman"/>
                <a:ea typeface="Times New Roman"/>
                <a:cs typeface="Times New Roman"/>
                <a:sym typeface="Times New Roman"/>
              </a:rPr>
              <a:t>Color-coding by position is automatic and consistent  across all 4 charts simultaneously</a:t>
            </a:r>
            <a:endParaRPr sz="1400">
              <a:solidFill>
                <a:srgbClr val="4D4D4C"/>
              </a:solidFill>
              <a:latin typeface="Times New Roman"/>
              <a:ea typeface="Times New Roman"/>
              <a:cs typeface="Times New Roman"/>
              <a:sym typeface="Times New Roman"/>
            </a:endParaRPr>
          </a:p>
          <a:p>
            <a:pPr indent="0" lvl="0" marL="0" rtl="0" algn="l">
              <a:lnSpc>
                <a:spcPct val="105000"/>
              </a:lnSpc>
              <a:spcBef>
                <a:spcPts val="1200"/>
              </a:spcBef>
              <a:spcAft>
                <a:spcPts val="0"/>
              </a:spcAft>
              <a:buNone/>
            </a:pPr>
            <a:r>
              <a:rPr lang="en-GB" sz="1400">
                <a:solidFill>
                  <a:srgbClr val="4D4D4C"/>
                </a:solidFill>
                <a:latin typeface="Times New Roman"/>
                <a:ea typeface="Times New Roman"/>
                <a:cs typeface="Times New Roman"/>
                <a:sym typeface="Times New Roman"/>
              </a:rPr>
              <a:t>→ Box-and-whisker plots are native and easy to build</a:t>
            </a:r>
            <a:endParaRPr sz="1400">
              <a:solidFill>
                <a:srgbClr val="4D4D4C"/>
              </a:solidFill>
              <a:latin typeface="Times New Roman"/>
              <a:ea typeface="Times New Roman"/>
              <a:cs typeface="Times New Roman"/>
              <a:sym typeface="Times New Roman"/>
            </a:endParaRPr>
          </a:p>
          <a:p>
            <a:pPr indent="0" lvl="0" marL="0" rtl="0" algn="l">
              <a:lnSpc>
                <a:spcPct val="105000"/>
              </a:lnSpc>
              <a:spcBef>
                <a:spcPts val="1200"/>
              </a:spcBef>
              <a:spcAft>
                <a:spcPts val="0"/>
              </a:spcAft>
              <a:buNone/>
            </a:pPr>
            <a:r>
              <a:rPr lang="en-GB" sz="1400">
                <a:solidFill>
                  <a:srgbClr val="4D4D4C"/>
                </a:solidFill>
                <a:latin typeface="Times New Roman"/>
                <a:ea typeface="Times New Roman"/>
                <a:cs typeface="Times New Roman"/>
                <a:sym typeface="Times New Roman"/>
              </a:rPr>
              <a:t>→ Trend lines per position on scatter plots add deep</a:t>
            </a:r>
            <a:endParaRPr sz="1400">
              <a:solidFill>
                <a:srgbClr val="4D4D4C"/>
              </a:solidFill>
              <a:latin typeface="Times New Roman"/>
              <a:ea typeface="Times New Roman"/>
              <a:cs typeface="Times New Roman"/>
              <a:sym typeface="Times New Roman"/>
            </a:endParaRPr>
          </a:p>
          <a:p>
            <a:pPr indent="0" lvl="0" marL="0" rtl="0" algn="l">
              <a:lnSpc>
                <a:spcPct val="105000"/>
              </a:lnSpc>
              <a:spcBef>
                <a:spcPts val="1200"/>
              </a:spcBef>
              <a:spcAft>
                <a:spcPts val="0"/>
              </a:spcAft>
              <a:buNone/>
            </a:pPr>
            <a:r>
              <a:rPr lang="en-GB" sz="1400">
                <a:solidFill>
                  <a:srgbClr val="4D4D4C"/>
                </a:solidFill>
                <a:latin typeface="Times New Roman"/>
                <a:ea typeface="Times New Roman"/>
                <a:cs typeface="Times New Roman"/>
                <a:sym typeface="Times New Roman"/>
              </a:rPr>
              <a:t>  analytical value not available in basic Power BI</a:t>
            </a:r>
            <a:endParaRPr sz="1400">
              <a:solidFill>
                <a:srgbClr val="4D4D4C"/>
              </a:solidFill>
              <a:latin typeface="Times New Roman"/>
              <a:ea typeface="Times New Roman"/>
              <a:cs typeface="Times New Roman"/>
              <a:sym typeface="Times New Roman"/>
            </a:endParaRPr>
          </a:p>
          <a:p>
            <a:pPr indent="0" lvl="0" marL="0" rtl="0" algn="l">
              <a:lnSpc>
                <a:spcPct val="105000"/>
              </a:lnSpc>
              <a:spcBef>
                <a:spcPts val="1200"/>
              </a:spcBef>
              <a:spcAft>
                <a:spcPts val="0"/>
              </a:spcAft>
              <a:buNone/>
            </a:pPr>
            <a:r>
              <a:rPr lang="en-GB" sz="1400">
                <a:solidFill>
                  <a:srgbClr val="4D4D4C"/>
                </a:solidFill>
                <a:latin typeface="Times New Roman"/>
                <a:ea typeface="Times New Roman"/>
                <a:cs typeface="Times New Roman"/>
                <a:sym typeface="Times New Roman"/>
              </a:rPr>
              <a:t>→ The combined dashboard tells the complete Stage 1 and Stage 2 story in a single screen view</a:t>
            </a:r>
            <a:endParaRPr sz="1400">
              <a:solidFill>
                <a:srgbClr val="4D4D4C"/>
              </a:solidFill>
              <a:latin typeface="Times New Roman"/>
              <a:ea typeface="Times New Roman"/>
              <a:cs typeface="Times New Roman"/>
              <a:sym typeface="Times New Roman"/>
            </a:endParaRPr>
          </a:p>
          <a:p>
            <a:pPr indent="0" lvl="0" marL="0" rtl="0" algn="l">
              <a:lnSpc>
                <a:spcPct val="105000"/>
              </a:lnSpc>
              <a:spcBef>
                <a:spcPts val="1200"/>
              </a:spcBef>
              <a:spcAft>
                <a:spcPts val="0"/>
              </a:spcAft>
              <a:buClr>
                <a:schemeClr val="dk1"/>
              </a:buClr>
              <a:buSzPts val="1100"/>
              <a:buFont typeface="Arial"/>
              <a:buNone/>
            </a:pPr>
            <a:r>
              <a:t/>
            </a:r>
            <a:endParaRPr sz="1400">
              <a:solidFill>
                <a:schemeClr val="dk1"/>
              </a:solidFill>
              <a:latin typeface="Times New Roman"/>
              <a:ea typeface="Times New Roman"/>
              <a:cs typeface="Times New Roman"/>
              <a:sym typeface="Times New Roman"/>
            </a:endParaRPr>
          </a:p>
          <a:p>
            <a:pPr indent="0" lvl="0" marL="76200" marR="76200" rtl="0" algn="r">
              <a:lnSpc>
                <a:spcPct val="132857"/>
              </a:lnSpc>
              <a:spcBef>
                <a:spcPts val="1200"/>
              </a:spcBef>
              <a:spcAft>
                <a:spcPts val="0"/>
              </a:spcAft>
              <a:buClr>
                <a:schemeClr val="dk1"/>
              </a:buClr>
              <a:buSzPts val="1100"/>
              <a:buFont typeface="Arial"/>
              <a:buNone/>
            </a:pPr>
            <a:r>
              <a:t/>
            </a:r>
            <a:endParaRPr sz="1400">
              <a:solidFill>
                <a:srgbClr val="4D4D4C"/>
              </a:solidFill>
              <a:latin typeface="Times New Roman"/>
              <a:ea typeface="Times New Roman"/>
              <a:cs typeface="Times New Roman"/>
              <a:sym typeface="Times New Roman"/>
            </a:endParaRPr>
          </a:p>
          <a:p>
            <a:pPr indent="0" lvl="0" marL="0" rtl="0" algn="l">
              <a:lnSpc>
                <a:spcPct val="105000"/>
              </a:lnSpc>
              <a:spcBef>
                <a:spcPts val="0"/>
              </a:spcBef>
              <a:spcAft>
                <a:spcPts val="1200"/>
              </a:spcAft>
              <a:buNone/>
            </a:pPr>
            <a:r>
              <a:t/>
            </a:r>
            <a:endParaRPr sz="2100">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2400"/>
              </a:spcBef>
              <a:spcAft>
                <a:spcPts val="0"/>
              </a:spcAft>
              <a:buClr>
                <a:schemeClr val="dk1"/>
              </a:buClr>
              <a:buSzPct val="47826"/>
              <a:buFont typeface="Arial"/>
              <a:buNone/>
            </a:pPr>
            <a:r>
              <a:rPr b="1" lang="en-GB" sz="2300"/>
              <a:t>Power BI Dashboard</a:t>
            </a:r>
            <a:endParaRPr b="1" sz="2300"/>
          </a:p>
          <a:p>
            <a:pPr indent="0" lvl="0" marL="0" rtl="0" algn="l">
              <a:spcBef>
                <a:spcPts val="600"/>
              </a:spcBef>
              <a:spcAft>
                <a:spcPts val="0"/>
              </a:spcAft>
              <a:buNone/>
            </a:pPr>
            <a:r>
              <a:t/>
            </a:r>
            <a:endParaRPr/>
          </a:p>
        </p:txBody>
      </p:sp>
      <p:sp>
        <p:nvSpPr>
          <p:cNvPr id="231" name="Google Shape;231;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2" name="Google Shape;232;p41"/>
          <p:cNvPicPr preferRelativeResize="0"/>
          <p:nvPr/>
        </p:nvPicPr>
        <p:blipFill>
          <a:blip r:embed="rId3">
            <a:alphaModFix/>
          </a:blip>
          <a:stretch>
            <a:fillRect/>
          </a:stretch>
        </p:blipFill>
        <p:spPr>
          <a:xfrm>
            <a:off x="704850" y="1207275"/>
            <a:ext cx="6834200" cy="36898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8" name="Google Shape;238;p4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3"/>
              <a:buNone/>
            </a:pPr>
            <a:r>
              <a:rPr lang="en-GB" sz="1353">
                <a:solidFill>
                  <a:srgbClr val="4D4D4C"/>
                </a:solidFill>
                <a:latin typeface="Times New Roman"/>
                <a:ea typeface="Times New Roman"/>
                <a:cs typeface="Times New Roman"/>
                <a:sym typeface="Times New Roman"/>
              </a:rPr>
              <a:t>→ The Top 15 Scorers table is a unique addition not  in Tableau — puts real player names to the data story</a:t>
            </a:r>
            <a:endParaRPr sz="1353">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853"/>
              <a:buNone/>
            </a:pPr>
            <a:r>
              <a:rPr lang="en-GB" sz="1353">
                <a:solidFill>
                  <a:srgbClr val="4D4D4C"/>
                </a:solidFill>
                <a:latin typeface="Times New Roman"/>
                <a:ea typeface="Times New Roman"/>
                <a:cs typeface="Times New Roman"/>
                <a:sym typeface="Times New Roman"/>
              </a:rPr>
              <a:t>→ Top N filtering makes finding elite performers instant</a:t>
            </a:r>
            <a:endParaRPr sz="1653">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853"/>
              <a:buNone/>
            </a:pPr>
            <a:r>
              <a:rPr lang="en-GB" sz="1353">
                <a:solidFill>
                  <a:srgbClr val="4D4D4C"/>
                </a:solidFill>
                <a:latin typeface="Times New Roman"/>
                <a:ea typeface="Times New Roman"/>
                <a:cs typeface="Times New Roman"/>
                <a:sym typeface="Times New Roman"/>
              </a:rPr>
              <a:t>→ Cross-visual interaction: clicking a position in the  bar chart filters all other visuals simultaneously</a:t>
            </a:r>
            <a:endParaRPr sz="1353">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853"/>
              <a:buNone/>
            </a:pPr>
            <a:r>
              <a:rPr lang="en-GB" sz="1353">
                <a:solidFill>
                  <a:srgbClr val="4D4D4C"/>
                </a:solidFill>
                <a:latin typeface="Times New Roman"/>
                <a:ea typeface="Times New Roman"/>
                <a:cs typeface="Times New Roman"/>
                <a:sym typeface="Times New Roman"/>
              </a:rPr>
              <a:t>→ Power BI's business intelligence focus makes it ideal  for ranking and tabular analysis alongside charts</a:t>
            </a:r>
            <a:endParaRPr sz="1353">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853"/>
              <a:buNone/>
            </a:pPr>
            <a:r>
              <a:rPr lang="en-GB" sz="1353">
                <a:solidFill>
                  <a:srgbClr val="4D4D4C"/>
                </a:solidFill>
                <a:latin typeface="Times New Roman"/>
                <a:ea typeface="Times New Roman"/>
                <a:cs typeface="Times New Roman"/>
                <a:sym typeface="Times New Roman"/>
              </a:rPr>
              <a:t>TABLEAU vs POWER BI — KEY DIFFERENCE:</a:t>
            </a:r>
            <a:endParaRPr sz="1353">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853"/>
              <a:buNone/>
            </a:pPr>
            <a:r>
              <a:rPr lang="en-GB" sz="1353">
                <a:solidFill>
                  <a:srgbClr val="4D4D4C"/>
                </a:solidFill>
                <a:latin typeface="Times New Roman"/>
                <a:ea typeface="Times New Roman"/>
                <a:cs typeface="Times New Roman"/>
                <a:sym typeface="Times New Roman"/>
              </a:rPr>
              <a:t>Tableau excels at statistical charts (box plots, trend lines)</a:t>
            </a:r>
            <a:endParaRPr sz="1353">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853"/>
              <a:buNone/>
            </a:pPr>
            <a:r>
              <a:rPr lang="en-GB" sz="1353">
                <a:solidFill>
                  <a:srgbClr val="4D4D4C"/>
                </a:solidFill>
                <a:latin typeface="Times New Roman"/>
                <a:ea typeface="Times New Roman"/>
                <a:cs typeface="Times New Roman"/>
                <a:sym typeface="Times New Roman"/>
              </a:rPr>
              <a:t>Power BI excels at business tables and interactive filtering.</a:t>
            </a:r>
            <a:endParaRPr sz="1353">
              <a:solidFill>
                <a:srgbClr val="4D4D4C"/>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853"/>
              <a:buNone/>
            </a:pPr>
            <a:r>
              <a:rPr lang="en-GB" sz="1353">
                <a:solidFill>
                  <a:srgbClr val="4D4D4C"/>
                </a:solidFill>
                <a:latin typeface="Times New Roman"/>
                <a:ea typeface="Times New Roman"/>
                <a:cs typeface="Times New Roman"/>
                <a:sym typeface="Times New Roman"/>
              </a:rPr>
              <a:t>Together they provide complete analytical coverage.</a:t>
            </a:r>
            <a:endParaRPr sz="1895">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solidFill>
                  <a:srgbClr val="27251E"/>
                </a:solidFill>
                <a:latin typeface="Georgia"/>
                <a:ea typeface="Georgia"/>
                <a:cs typeface="Georgia"/>
                <a:sym typeface="Georgia"/>
              </a:rPr>
              <a:t>Project 2: From Performance to Value</a:t>
            </a:r>
            <a:r>
              <a:rPr lang="en-GB" sz="1100"/>
              <a:t> </a:t>
            </a:r>
            <a:endParaRPr/>
          </a:p>
        </p:txBody>
      </p:sp>
      <p:sp>
        <p:nvSpPr>
          <p:cNvPr id="244" name="Google Shape;244;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sz="1200">
                <a:solidFill>
                  <a:srgbClr val="27251E"/>
                </a:solidFill>
                <a:latin typeface="Georgia"/>
                <a:ea typeface="Georgia"/>
                <a:cs typeface="Georgia"/>
                <a:sym typeface="Georgia"/>
              </a:rPr>
              <a:t>Project 1 established the performance landscape of the 2024–25 NBA season by identifying top performers, positional differences, and the strongest statistical relationships.</a:t>
            </a:r>
            <a:endParaRPr sz="1200">
              <a:solidFill>
                <a:srgbClr val="27251E"/>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rPr lang="en-GB" sz="1200">
                <a:solidFill>
                  <a:srgbClr val="27251E"/>
                </a:solidFill>
                <a:latin typeface="Georgia"/>
                <a:ea typeface="Georgia"/>
                <a:cs typeface="Georgia"/>
                <a:sym typeface="Georgia"/>
              </a:rPr>
              <a:t>Project 2 extends that analysis by adding salary data, allowing us to evaluate not just who performs well, but who delivers the best value for the money spent.</a:t>
            </a:r>
            <a:endParaRPr sz="1200">
              <a:solidFill>
                <a:srgbClr val="27251E"/>
              </a:solidFill>
              <a:latin typeface="Georgia"/>
              <a:ea typeface="Georgia"/>
              <a:cs typeface="Georgia"/>
              <a:sym typeface="Georgia"/>
            </a:endParaRPr>
          </a:p>
          <a:p>
            <a:pPr indent="0" lvl="0" marL="0" rtl="0" algn="l">
              <a:spcBef>
                <a:spcPts val="1200"/>
              </a:spcBef>
              <a:spcAft>
                <a:spcPts val="1200"/>
              </a:spcAft>
              <a:buNone/>
            </a:pPr>
            <a:r>
              <a:rPr lang="en-GB" sz="1200">
                <a:solidFill>
                  <a:srgbClr val="27251E"/>
                </a:solidFill>
                <a:latin typeface="Georgia"/>
                <a:ea typeface="Georgia"/>
                <a:cs typeface="Georgia"/>
                <a:sym typeface="Georgia"/>
              </a:rPr>
              <a:t>This shift turns a performance dashboard into a decision-support tool for contract evaluation, team-building, and salary efficiency analysis</a:t>
            </a:r>
            <a:r>
              <a:rPr lang="en-GB" sz="1100">
                <a:solidFill>
                  <a:schemeClr val="dk1"/>
                </a:solidFill>
              </a:rPr>
              <a:t>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600"/>
              </a:spcBef>
              <a:spcAft>
                <a:spcPts val="0"/>
              </a:spcAft>
              <a:buClr>
                <a:schemeClr val="dk1"/>
              </a:buClr>
              <a:buSzPct val="91667"/>
              <a:buFont typeface="Arial"/>
              <a:buNone/>
            </a:pPr>
            <a:r>
              <a:rPr lang="en-GB" sz="1200">
                <a:solidFill>
                  <a:srgbClr val="27251E"/>
                </a:solidFill>
                <a:latin typeface="Georgia"/>
                <a:ea typeface="Georgia"/>
                <a:cs typeface="Georgia"/>
                <a:sym typeface="Georgia"/>
              </a:rPr>
              <a:t>Project 2 Dataset and Integration</a:t>
            </a:r>
            <a:endParaRPr sz="1200">
              <a:solidFill>
                <a:srgbClr val="27251E"/>
              </a:solidFill>
              <a:latin typeface="Georgia"/>
              <a:ea typeface="Georgia"/>
              <a:cs typeface="Georgia"/>
              <a:sym typeface="Georgia"/>
            </a:endParaRPr>
          </a:p>
          <a:p>
            <a:pPr indent="0" lvl="0" marL="0" rtl="0" algn="l">
              <a:lnSpc>
                <a:spcPct val="115000"/>
              </a:lnSpc>
              <a:spcBef>
                <a:spcPts val="600"/>
              </a:spcBef>
              <a:spcAft>
                <a:spcPts val="0"/>
              </a:spcAft>
              <a:buClr>
                <a:schemeClr val="dk1"/>
              </a:buClr>
              <a:buSzPct val="100000"/>
              <a:buFont typeface="Arial"/>
              <a:buNone/>
            </a:pPr>
            <a:r>
              <a:t/>
            </a:r>
            <a:endParaRPr sz="1100"/>
          </a:p>
          <a:p>
            <a:pPr indent="0" lvl="0" marL="0" rtl="0" algn="l">
              <a:spcBef>
                <a:spcPts val="0"/>
              </a:spcBef>
              <a:spcAft>
                <a:spcPts val="0"/>
              </a:spcAft>
              <a:buNone/>
            </a:pPr>
            <a:r>
              <a:t/>
            </a:r>
            <a:endParaRPr/>
          </a:p>
        </p:txBody>
      </p:sp>
      <p:sp>
        <p:nvSpPr>
          <p:cNvPr id="250" name="Google Shape;250;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GB" sz="1200">
                <a:solidFill>
                  <a:srgbClr val="27251E"/>
                </a:solidFill>
                <a:latin typeface="Georgia"/>
                <a:ea typeface="Georgia"/>
                <a:cs typeface="Georgia"/>
                <a:sym typeface="Georgia"/>
              </a:rPr>
              <a:t>Dataset 1: NBA Player Stats 2024–25 provided player performance variables such as PTS, TRB, AST, FG%, 3P%, FT%, USG%, and PER.</a:t>
            </a:r>
            <a:br>
              <a:rPr lang="en-GB" sz="1200">
                <a:solidFill>
                  <a:srgbClr val="27251E"/>
                </a:solidFill>
                <a:latin typeface="Georgia"/>
                <a:ea typeface="Georgia"/>
                <a:cs typeface="Georgia"/>
                <a:sym typeface="Georgia"/>
              </a:rPr>
            </a:br>
            <a:r>
              <a:rPr lang="en-GB" sz="1200">
                <a:solidFill>
                  <a:srgbClr val="27251E"/>
                </a:solidFill>
                <a:latin typeface="Georgia"/>
                <a:ea typeface="Georgia"/>
                <a:cs typeface="Georgia"/>
                <a:sym typeface="Georgia"/>
              </a:rPr>
              <a:t>Dataset 2: NBA Player Salaries 2024–25 added contract salary information used to measure cost versus performance.</a:t>
            </a:r>
            <a:br>
              <a:rPr lang="en-GB" sz="1200">
                <a:solidFill>
                  <a:srgbClr val="27251E"/>
                </a:solidFill>
                <a:latin typeface="Georgia"/>
                <a:ea typeface="Georgia"/>
                <a:cs typeface="Georgia"/>
                <a:sym typeface="Georgia"/>
              </a:rPr>
            </a:br>
            <a:r>
              <a:rPr lang="en-GB" sz="1200">
                <a:solidFill>
                  <a:srgbClr val="27251E"/>
                </a:solidFill>
                <a:latin typeface="Georgia"/>
                <a:ea typeface="Georgia"/>
                <a:cs typeface="Georgia"/>
                <a:sym typeface="Georgia"/>
              </a:rPr>
              <a:t>The two datasets were merged on player identity and team, producing a combined dataset for salary-efficiency analysis.</a:t>
            </a:r>
            <a:br>
              <a:rPr lang="en-GB" sz="1200">
                <a:solidFill>
                  <a:srgbClr val="27251E"/>
                </a:solidFill>
                <a:latin typeface="Georgia"/>
                <a:ea typeface="Georgia"/>
                <a:cs typeface="Georgia"/>
                <a:sym typeface="Georgia"/>
              </a:rPr>
            </a:br>
            <a:r>
              <a:rPr lang="en-GB" sz="1200">
                <a:solidFill>
                  <a:srgbClr val="27251E"/>
                </a:solidFill>
                <a:latin typeface="Georgia"/>
                <a:ea typeface="Georgia"/>
                <a:cs typeface="Georgia"/>
                <a:sym typeface="Georgia"/>
              </a:rPr>
              <a:t>This merged dataset became the foundation for all Project 2 charts, rankings, and dashboard interactions.</a:t>
            </a:r>
            <a:endParaRPr sz="1200">
              <a:solidFill>
                <a:srgbClr val="27251E"/>
              </a:solidFill>
              <a:latin typeface="Georgia"/>
              <a:ea typeface="Georgia"/>
              <a:cs typeface="Georgia"/>
              <a:sym typeface="Georgia"/>
            </a:endParaRPr>
          </a:p>
          <a:p>
            <a:pPr indent="-304800" lvl="0" marL="457200" rtl="0" algn="l">
              <a:spcBef>
                <a:spcPts val="60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Stats dataset: player performance metrics</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Salary dataset: annual player compensation</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Merge key: player + team</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Output: integrated player-value dataset</a:t>
            </a:r>
            <a:endParaRPr sz="1200">
              <a:solidFill>
                <a:srgbClr val="27251E"/>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1800"/>
              </a:spcBef>
              <a:spcAft>
                <a:spcPts val="0"/>
              </a:spcAft>
              <a:buClr>
                <a:schemeClr val="dk1"/>
              </a:buClr>
              <a:buSzPct val="64706"/>
              <a:buFont typeface="Arial"/>
              <a:buNone/>
            </a:pPr>
            <a:r>
              <a:rPr b="1" lang="en-GB" sz="1700">
                <a:solidFill>
                  <a:srgbClr val="27251E"/>
                </a:solidFill>
              </a:rPr>
              <a:t>Data Cleaning for Project 2</a:t>
            </a:r>
            <a:endParaRPr b="1" sz="1700">
              <a:solidFill>
                <a:srgbClr val="27251E"/>
              </a:solidFill>
            </a:endParaRPr>
          </a:p>
          <a:p>
            <a:pPr indent="0" lvl="0" marL="0" rtl="0" algn="l">
              <a:spcBef>
                <a:spcPts val="400"/>
              </a:spcBef>
              <a:spcAft>
                <a:spcPts val="0"/>
              </a:spcAft>
              <a:buNone/>
            </a:pPr>
            <a:r>
              <a:t/>
            </a:r>
            <a:endParaRPr/>
          </a:p>
        </p:txBody>
      </p:sp>
      <p:sp>
        <p:nvSpPr>
          <p:cNvPr id="256" name="Google Shape;256;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lang="en-GB" sz="1200">
                <a:solidFill>
                  <a:srgbClr val="27251E"/>
                </a:solidFill>
                <a:latin typeface="Georgia"/>
                <a:ea typeface="Georgia"/>
                <a:cs typeface="Georgia"/>
                <a:sym typeface="Georgia"/>
              </a:rPr>
              <a:t>The analysis pipeline was built in Python using Pandas and NumPy for cleaning, transformation, and feature engineering.</a:t>
            </a:r>
            <a:br>
              <a:rPr lang="en-GB" sz="1200">
                <a:solidFill>
                  <a:srgbClr val="27251E"/>
                </a:solidFill>
                <a:latin typeface="Georgia"/>
                <a:ea typeface="Georgia"/>
                <a:cs typeface="Georgia"/>
                <a:sym typeface="Georgia"/>
              </a:rPr>
            </a:br>
            <a:r>
              <a:rPr lang="en-GB" sz="1200">
                <a:solidFill>
                  <a:srgbClr val="27251E"/>
                </a:solidFill>
                <a:latin typeface="Georgia"/>
                <a:ea typeface="Georgia"/>
                <a:cs typeface="Georgia"/>
                <a:sym typeface="Georgia"/>
              </a:rPr>
              <a:t>For Project 1, traded players were handled by keeping the TOT season rows, players with fewer than 15 games were filtered out, positions were simplified into five main categories, all statistical columns were converted to numeric format, and duplicates or missing values were removed.</a:t>
            </a:r>
            <a:br>
              <a:rPr lang="en-GB" sz="1200">
                <a:solidFill>
                  <a:srgbClr val="27251E"/>
                </a:solidFill>
                <a:latin typeface="Georgia"/>
                <a:ea typeface="Georgia"/>
                <a:cs typeface="Georgia"/>
                <a:sym typeface="Georgia"/>
              </a:rPr>
            </a:br>
            <a:endParaRPr sz="1200">
              <a:solidFill>
                <a:srgbClr val="27251E"/>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rPr lang="en-GB" sz="1200">
                <a:solidFill>
                  <a:srgbClr val="27251E"/>
                </a:solidFill>
                <a:latin typeface="Georgia"/>
                <a:ea typeface="Georgia"/>
                <a:cs typeface="Georgia"/>
                <a:sym typeface="Georgia"/>
              </a:rPr>
              <a:t>For Project 2, salary records were cleaned and merged with the performance dataset, creating a final player-level table ready for value analysis and dashboarding.</a:t>
            </a:r>
            <a:endParaRPr sz="1200">
              <a:solidFill>
                <a:srgbClr val="27251E"/>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t/>
            </a:r>
            <a:endParaRPr b="1" sz="1200">
              <a:solidFill>
                <a:srgbClr val="27251E"/>
              </a:solidFill>
              <a:latin typeface="Georgia"/>
              <a:ea typeface="Georgia"/>
              <a:cs typeface="Georgia"/>
              <a:sym typeface="Georgia"/>
            </a:endParaRPr>
          </a:p>
          <a:p>
            <a:pPr indent="-304800" lvl="0" marL="457200" rtl="0" algn="l">
              <a:spcBef>
                <a:spcPts val="60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Kept </a:t>
            </a:r>
            <a:r>
              <a:rPr lang="en-GB" sz="1050">
                <a:solidFill>
                  <a:srgbClr val="27251E"/>
                </a:solidFill>
                <a:latin typeface="Courier New"/>
                <a:ea typeface="Courier New"/>
                <a:cs typeface="Courier New"/>
                <a:sym typeface="Courier New"/>
              </a:rPr>
              <a:t>TOT</a:t>
            </a:r>
            <a:r>
              <a:rPr lang="en-GB" sz="1200">
                <a:solidFill>
                  <a:srgbClr val="27251E"/>
                </a:solidFill>
                <a:latin typeface="Georgia"/>
                <a:ea typeface="Georgia"/>
                <a:cs typeface="Georgia"/>
                <a:sym typeface="Georgia"/>
              </a:rPr>
              <a:t> rows for traded players</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Filtered </a:t>
            </a:r>
            <a:r>
              <a:rPr lang="en-GB" sz="1050">
                <a:solidFill>
                  <a:srgbClr val="27251E"/>
                </a:solidFill>
                <a:latin typeface="Courier New"/>
                <a:ea typeface="Courier New"/>
                <a:cs typeface="Courier New"/>
                <a:sym typeface="Courier New"/>
              </a:rPr>
              <a:t>G &gt;= 15</a:t>
            </a:r>
            <a:r>
              <a:rPr lang="en-GB" sz="1200">
                <a:solidFill>
                  <a:srgbClr val="27251E"/>
                </a:solidFill>
                <a:latin typeface="Georgia"/>
                <a:ea typeface="Georgia"/>
                <a:cs typeface="Georgia"/>
                <a:sym typeface="Georgia"/>
              </a:rPr>
              <a:t> for stability</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Standardized positions to PG, SG, SF, PF, C</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Converted key fields to numeric</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Removed duplicates and missing values</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Merged salary data for Project 2</a:t>
            </a:r>
            <a:endParaRPr sz="1200">
              <a:solidFill>
                <a:srgbClr val="27251E"/>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solidFill>
                  <a:srgbClr val="27251E"/>
                </a:solidFill>
                <a:latin typeface="Georgia"/>
                <a:ea typeface="Georgia"/>
                <a:cs typeface="Georgia"/>
                <a:sym typeface="Georgia"/>
              </a:rPr>
              <a:t>Derived Metrics for Value Analysis</a:t>
            </a:r>
            <a:r>
              <a:rPr lang="en-GB" sz="1100"/>
              <a:t> </a:t>
            </a:r>
            <a:endParaRPr/>
          </a:p>
        </p:txBody>
      </p:sp>
      <p:sp>
        <p:nvSpPr>
          <p:cNvPr id="262" name="Google Shape;262;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GB" sz="1200">
                <a:solidFill>
                  <a:srgbClr val="27251E"/>
                </a:solidFill>
                <a:latin typeface="Georgia"/>
                <a:ea typeface="Georgia"/>
                <a:cs typeface="Georgia"/>
                <a:sym typeface="Georgia"/>
              </a:rPr>
              <a:t>To move from raw performance to salary efficiency, derived features were created after the merge.</a:t>
            </a:r>
            <a:br>
              <a:rPr lang="en-GB" sz="1200">
                <a:solidFill>
                  <a:srgbClr val="27251E"/>
                </a:solidFill>
                <a:latin typeface="Georgia"/>
                <a:ea typeface="Georgia"/>
                <a:cs typeface="Georgia"/>
                <a:sym typeface="Georgia"/>
              </a:rPr>
            </a:br>
            <a:r>
              <a:rPr lang="en-GB" sz="1200">
                <a:solidFill>
                  <a:srgbClr val="27251E"/>
                </a:solidFill>
                <a:latin typeface="Georgia"/>
                <a:ea typeface="Georgia"/>
                <a:cs typeface="Georgia"/>
                <a:sym typeface="Georgia"/>
              </a:rPr>
              <a:t>The proposal defines a Performance Value Index using PER, Usage Rate, and Salary in Millions to capture the amount of on-court impact delivered per dollar spent.</a:t>
            </a:r>
            <a:br>
              <a:rPr lang="en-GB" sz="1200">
                <a:solidFill>
                  <a:srgbClr val="27251E"/>
                </a:solidFill>
                <a:latin typeface="Georgia"/>
                <a:ea typeface="Georgia"/>
                <a:cs typeface="Georgia"/>
                <a:sym typeface="Georgia"/>
              </a:rPr>
            </a:br>
            <a:r>
              <a:rPr lang="en-GB" sz="1200">
                <a:solidFill>
                  <a:srgbClr val="27251E"/>
                </a:solidFill>
                <a:latin typeface="Georgia"/>
                <a:ea typeface="Georgia"/>
                <a:cs typeface="Georgia"/>
                <a:sym typeface="Georgia"/>
              </a:rPr>
              <a:t>Players were also segmented into salary tiers such as minimum, role player, star, and superstar, enabling clearer comparisons between similar contract groups.</a:t>
            </a:r>
            <a:br>
              <a:rPr lang="en-GB" sz="1200">
                <a:solidFill>
                  <a:srgbClr val="27251E"/>
                </a:solidFill>
                <a:latin typeface="Georgia"/>
                <a:ea typeface="Georgia"/>
                <a:cs typeface="Georgia"/>
                <a:sym typeface="Georgia"/>
              </a:rPr>
            </a:br>
            <a:r>
              <a:rPr lang="en-GB" sz="1200">
                <a:solidFill>
                  <a:srgbClr val="27251E"/>
                </a:solidFill>
                <a:latin typeface="Georgia"/>
                <a:ea typeface="Georgia"/>
                <a:cs typeface="Georgia"/>
                <a:sym typeface="Georgia"/>
              </a:rPr>
              <a:t>These engineered variables made it possible to rank undervalued and overpaid players rather than simply listing top performers.</a:t>
            </a:r>
            <a:endParaRPr sz="1200">
              <a:solidFill>
                <a:srgbClr val="27251E"/>
              </a:solidFill>
              <a:latin typeface="Georgia"/>
              <a:ea typeface="Georgia"/>
              <a:cs typeface="Georgia"/>
              <a:sym typeface="Georgia"/>
            </a:endParaRPr>
          </a:p>
          <a:p>
            <a:pPr indent="0" lvl="0" marL="0" rtl="0" algn="l">
              <a:lnSpc>
                <a:spcPct val="120000"/>
              </a:lnSpc>
              <a:spcBef>
                <a:spcPts val="1200"/>
              </a:spcBef>
              <a:spcAft>
                <a:spcPts val="0"/>
              </a:spcAft>
              <a:buNone/>
            </a:pPr>
            <a:br>
              <a:rPr b="1" lang="en-GB" sz="1200">
                <a:solidFill>
                  <a:srgbClr val="27251E"/>
                </a:solidFill>
                <a:latin typeface="Georgia"/>
                <a:ea typeface="Georgia"/>
                <a:cs typeface="Georgia"/>
                <a:sym typeface="Georgia"/>
              </a:rPr>
            </a:br>
            <a:r>
              <a:rPr lang="en-GB" sz="1200">
                <a:solidFill>
                  <a:srgbClr val="27251E"/>
                </a:solidFill>
                <a:latin typeface="Georgia"/>
                <a:ea typeface="Georgia"/>
                <a:cs typeface="Georgia"/>
                <a:sym typeface="Georgia"/>
              </a:rPr>
              <a:t>Performance Value Index </a:t>
            </a:r>
            <a:endParaRPr sz="1200">
              <a:solidFill>
                <a:srgbClr val="27251E"/>
              </a:solidFill>
              <a:latin typeface="Georgia"/>
              <a:ea typeface="Georgia"/>
              <a:cs typeface="Georgia"/>
              <a:sym typeface="Georgia"/>
            </a:endParaRPr>
          </a:p>
          <a:p>
            <a:pPr indent="0" lvl="0" marL="0" rtl="0" algn="l">
              <a:lnSpc>
                <a:spcPct val="120000"/>
              </a:lnSpc>
              <a:spcBef>
                <a:spcPts val="1200"/>
              </a:spcBef>
              <a:spcAft>
                <a:spcPts val="0"/>
              </a:spcAft>
              <a:buNone/>
            </a:pPr>
            <a:r>
              <a:t/>
            </a:r>
            <a:endParaRPr sz="1200">
              <a:solidFill>
                <a:srgbClr val="27251E"/>
              </a:solidFill>
              <a:latin typeface="Georgia"/>
              <a:ea typeface="Georgia"/>
              <a:cs typeface="Georgia"/>
              <a:sym typeface="Georgia"/>
            </a:endParaRPr>
          </a:p>
          <a:p>
            <a:pPr indent="0" lvl="0" marL="0" rtl="0" algn="l">
              <a:lnSpc>
                <a:spcPct val="120000"/>
              </a:lnSpc>
              <a:spcBef>
                <a:spcPts val="1200"/>
              </a:spcBef>
              <a:spcAft>
                <a:spcPts val="0"/>
              </a:spcAft>
              <a:buClr>
                <a:schemeClr val="dk1"/>
              </a:buClr>
              <a:buSzPts val="1100"/>
              <a:buFont typeface="Arial"/>
              <a:buNone/>
            </a:pPr>
            <a:r>
              <a:t/>
            </a:r>
            <a:endParaRPr sz="100">
              <a:solidFill>
                <a:srgbClr val="27251E"/>
              </a:solidFill>
              <a:latin typeface="Times New Roman"/>
              <a:ea typeface="Times New Roman"/>
              <a:cs typeface="Times New Roman"/>
              <a:sym typeface="Times New Roman"/>
            </a:endParaRPr>
          </a:p>
          <a:p>
            <a:pPr indent="0" lvl="0" marL="0" rtl="0" algn="l">
              <a:spcBef>
                <a:spcPts val="60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1200"/>
              </a:spcAft>
              <a:buNone/>
            </a:pPr>
            <a:r>
              <a:t/>
            </a:r>
            <a:endParaRPr sz="1200">
              <a:solidFill>
                <a:srgbClr val="27251E"/>
              </a:solidFill>
              <a:latin typeface="Georgia"/>
              <a:ea typeface="Georgia"/>
              <a:cs typeface="Georgia"/>
              <a:sym typeface="Georgia"/>
            </a:endParaRPr>
          </a:p>
        </p:txBody>
      </p:sp>
      <p:pic>
        <p:nvPicPr>
          <p:cNvPr id="263" name="Google Shape;263;p46"/>
          <p:cNvPicPr preferRelativeResize="0"/>
          <p:nvPr/>
        </p:nvPicPr>
        <p:blipFill>
          <a:blip r:embed="rId3">
            <a:alphaModFix/>
          </a:blip>
          <a:stretch>
            <a:fillRect/>
          </a:stretch>
        </p:blipFill>
        <p:spPr>
          <a:xfrm>
            <a:off x="2360025" y="3630338"/>
            <a:ext cx="4191000" cy="6191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1800"/>
              </a:spcBef>
              <a:spcAft>
                <a:spcPts val="0"/>
              </a:spcAft>
              <a:buClr>
                <a:schemeClr val="dk1"/>
              </a:buClr>
              <a:buSzPct val="64706"/>
              <a:buFont typeface="Arial"/>
              <a:buNone/>
            </a:pPr>
            <a:r>
              <a:rPr b="1" lang="en-GB" sz="1700">
                <a:solidFill>
                  <a:srgbClr val="27251E"/>
                </a:solidFill>
              </a:rPr>
              <a:t>Salary vs Performance Bubble Chart</a:t>
            </a:r>
            <a:endParaRPr b="1" sz="1700">
              <a:solidFill>
                <a:srgbClr val="27251E"/>
              </a:solidFill>
            </a:endParaRPr>
          </a:p>
          <a:p>
            <a:pPr indent="0" lvl="0" marL="0" rtl="0" algn="l">
              <a:spcBef>
                <a:spcPts val="400"/>
              </a:spcBef>
              <a:spcAft>
                <a:spcPts val="0"/>
              </a:spcAft>
              <a:buNone/>
            </a:pPr>
            <a:r>
              <a:t/>
            </a:r>
            <a:endParaRPr/>
          </a:p>
        </p:txBody>
      </p:sp>
      <p:sp>
        <p:nvSpPr>
          <p:cNvPr id="269" name="Google Shape;269;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GB" sz="1200">
                <a:solidFill>
                  <a:srgbClr val="27251E"/>
                </a:solidFill>
                <a:latin typeface="Georgia"/>
                <a:ea typeface="Georgia"/>
                <a:cs typeface="Georgia"/>
                <a:sym typeface="Georgia"/>
              </a:rPr>
              <a:t>The main Project 2 visualization is a bubble chart with Salary on the x-axis, PER on the y-axis, and bubble size representing Usage Rate.</a:t>
            </a:r>
            <a:br>
              <a:rPr lang="en-GB" sz="1200">
                <a:solidFill>
                  <a:srgbClr val="27251E"/>
                </a:solidFill>
                <a:latin typeface="Georgia"/>
                <a:ea typeface="Georgia"/>
                <a:cs typeface="Georgia"/>
                <a:sym typeface="Georgia"/>
              </a:rPr>
            </a:br>
            <a:endParaRPr sz="1200">
              <a:solidFill>
                <a:srgbClr val="27251E"/>
              </a:solidFill>
              <a:latin typeface="Georgia"/>
              <a:ea typeface="Georgia"/>
              <a:cs typeface="Georgia"/>
              <a:sym typeface="Georgia"/>
            </a:endParaRPr>
          </a:p>
          <a:p>
            <a:pPr indent="0" lvl="0" marL="0" rtl="0" algn="l">
              <a:spcBef>
                <a:spcPts val="1200"/>
              </a:spcBef>
              <a:spcAft>
                <a:spcPts val="0"/>
              </a:spcAft>
              <a:buNone/>
            </a:pPr>
            <a:r>
              <a:rPr lang="en-GB" sz="1200">
                <a:solidFill>
                  <a:srgbClr val="27251E"/>
                </a:solidFill>
                <a:latin typeface="Georgia"/>
                <a:ea typeface="Georgia"/>
                <a:cs typeface="Georgia"/>
                <a:sym typeface="Georgia"/>
              </a:rPr>
              <a:t>This chart helps separate expensive superstars, efficient mid-tier players, and low-cost high-value players in one view.</a:t>
            </a:r>
            <a:br>
              <a:rPr lang="en-GB" sz="1200">
                <a:solidFill>
                  <a:srgbClr val="27251E"/>
                </a:solidFill>
                <a:latin typeface="Georgia"/>
                <a:ea typeface="Georgia"/>
                <a:cs typeface="Georgia"/>
                <a:sym typeface="Georgia"/>
              </a:rPr>
            </a:br>
            <a:r>
              <a:rPr lang="en-GB" sz="1200">
                <a:solidFill>
                  <a:srgbClr val="27251E"/>
                </a:solidFill>
                <a:latin typeface="Georgia"/>
                <a:ea typeface="Georgia"/>
                <a:cs typeface="Georgia"/>
                <a:sym typeface="Georgia"/>
              </a:rPr>
              <a:t>Players above the expected salary-performance trend can be interpreted as undervalued, while players below it may be overpaid relative to peers.</a:t>
            </a:r>
            <a:br>
              <a:rPr lang="en-GB" sz="1200">
                <a:solidFill>
                  <a:srgbClr val="27251E"/>
                </a:solidFill>
                <a:latin typeface="Georgia"/>
                <a:ea typeface="Georgia"/>
                <a:cs typeface="Georgia"/>
                <a:sym typeface="Georgia"/>
              </a:rPr>
            </a:br>
            <a:endParaRPr sz="1200">
              <a:solidFill>
                <a:srgbClr val="27251E"/>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rPr lang="en-GB" sz="1200">
                <a:solidFill>
                  <a:srgbClr val="27251E"/>
                </a:solidFill>
                <a:latin typeface="Georgia"/>
                <a:ea typeface="Georgia"/>
                <a:cs typeface="Georgia"/>
                <a:sym typeface="Georgia"/>
              </a:rPr>
              <a:t>Interactive filters by team, position, and salary tier make the chart useful for targeted roster analysis.</a:t>
            </a:r>
            <a:endParaRPr sz="1200">
              <a:solidFill>
                <a:srgbClr val="27251E"/>
              </a:solidFill>
              <a:latin typeface="Georgia"/>
              <a:ea typeface="Georgia"/>
              <a:cs typeface="Georgia"/>
              <a:sym typeface="Georgia"/>
            </a:endParaRPr>
          </a:p>
          <a:p>
            <a:pPr indent="0" lvl="0" marL="0" rtl="0" algn="l">
              <a:spcBef>
                <a:spcPts val="60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75" name="Google Shape;275;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76" name="Google Shape;276;p48"/>
          <p:cNvPicPr preferRelativeResize="0"/>
          <p:nvPr/>
        </p:nvPicPr>
        <p:blipFill>
          <a:blip r:embed="rId3">
            <a:alphaModFix/>
          </a:blip>
          <a:stretch>
            <a:fillRect/>
          </a:stretch>
        </p:blipFill>
        <p:spPr>
          <a:xfrm>
            <a:off x="715425" y="508125"/>
            <a:ext cx="8580974" cy="474327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solidFill>
                  <a:srgbClr val="27251E"/>
                </a:solidFill>
                <a:latin typeface="Georgia"/>
                <a:ea typeface="Georgia"/>
                <a:cs typeface="Georgia"/>
                <a:sym typeface="Georgia"/>
              </a:rPr>
              <a:t>Value Leaderboard: Ranking Players by Efficiency per Dollar</a:t>
            </a:r>
            <a:r>
              <a:rPr lang="en-GB" sz="1100"/>
              <a:t> </a:t>
            </a:r>
            <a:endParaRPr/>
          </a:p>
        </p:txBody>
      </p:sp>
      <p:sp>
        <p:nvSpPr>
          <p:cNvPr id="282" name="Google Shape;282;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GB" sz="1200">
                <a:solidFill>
                  <a:srgbClr val="27251E"/>
                </a:solidFill>
                <a:latin typeface="Georgia"/>
                <a:ea typeface="Georgia"/>
                <a:cs typeface="Georgia"/>
                <a:sym typeface="Georgia"/>
              </a:rPr>
              <a:t>A second view ranks players by value using the engineered efficiency metric and supporting statistics such as salary, PER, usage, and rank.</a:t>
            </a:r>
            <a:br>
              <a:rPr lang="en-GB" sz="1200">
                <a:solidFill>
                  <a:srgbClr val="27251E"/>
                </a:solidFill>
                <a:latin typeface="Georgia"/>
                <a:ea typeface="Georgia"/>
                <a:cs typeface="Georgia"/>
                <a:sym typeface="Georgia"/>
              </a:rPr>
            </a:br>
            <a:r>
              <a:rPr lang="en-GB" sz="1200">
                <a:solidFill>
                  <a:srgbClr val="27251E"/>
                </a:solidFill>
                <a:latin typeface="Georgia"/>
                <a:ea typeface="Georgia"/>
                <a:cs typeface="Georgia"/>
                <a:sym typeface="Georgia"/>
              </a:rPr>
              <a:t>This leaderboard makes it easy to identify low-salary, high-impact players who outperform their contract tier, as well as high-salary players with weaker-than-expected returns.</a:t>
            </a:r>
            <a:br>
              <a:rPr lang="en-GB" sz="1200">
                <a:solidFill>
                  <a:srgbClr val="27251E"/>
                </a:solidFill>
                <a:latin typeface="Georgia"/>
                <a:ea typeface="Georgia"/>
                <a:cs typeface="Georgia"/>
                <a:sym typeface="Georgia"/>
              </a:rPr>
            </a:br>
            <a:r>
              <a:rPr lang="en-GB" sz="1200">
                <a:solidFill>
                  <a:srgbClr val="27251E"/>
                </a:solidFill>
                <a:latin typeface="Georgia"/>
                <a:ea typeface="Georgia"/>
                <a:cs typeface="Georgia"/>
                <a:sym typeface="Georgia"/>
              </a:rPr>
              <a:t>Compared with a scatter plot, the leaderboard provides a more direct decision-making tool for analysts, coaches, and front-office staff.</a:t>
            </a:r>
            <a:endParaRPr sz="1200">
              <a:solidFill>
                <a:srgbClr val="27251E"/>
              </a:solidFill>
              <a:latin typeface="Georgia"/>
              <a:ea typeface="Georgia"/>
              <a:cs typeface="Georgia"/>
              <a:sym typeface="Georgia"/>
            </a:endParaRPr>
          </a:p>
          <a:p>
            <a:pPr indent="-304800" lvl="0" marL="457200" rtl="0" algn="l">
              <a:spcBef>
                <a:spcPts val="60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Sortable by value score, salary, or PER</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Filterable by team, position, and salary tier</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Highlights undervalued vs overpaid players</a:t>
            </a:r>
            <a:endParaRPr sz="1200">
              <a:solidFill>
                <a:srgbClr val="27251E"/>
              </a:solidFill>
              <a:latin typeface="Georgia"/>
              <a:ea typeface="Georgia"/>
              <a:cs typeface="Georgia"/>
              <a:sym typeface="Georgia"/>
            </a:endParaRPr>
          </a:p>
          <a:p>
            <a:pPr indent="0" lvl="0" marL="0" rtl="0" algn="l">
              <a:spcBef>
                <a:spcPts val="0"/>
              </a:spcBef>
              <a:spcAft>
                <a:spcPts val="12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88" name="Google Shape;288;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9" name="Google Shape;289;p50"/>
          <p:cNvPicPr preferRelativeResize="0"/>
          <p:nvPr/>
        </p:nvPicPr>
        <p:blipFill>
          <a:blip r:embed="rId3">
            <a:alphaModFix/>
          </a:blip>
          <a:stretch>
            <a:fillRect/>
          </a:stretch>
        </p:blipFill>
        <p:spPr>
          <a:xfrm>
            <a:off x="152400" y="445025"/>
            <a:ext cx="8741273" cy="47784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1800"/>
              </a:spcBef>
              <a:spcAft>
                <a:spcPts val="0"/>
              </a:spcAft>
              <a:buClr>
                <a:schemeClr val="dk1"/>
              </a:buClr>
              <a:buSzPct val="64706"/>
              <a:buFont typeface="Arial"/>
              <a:buNone/>
            </a:pPr>
            <a:r>
              <a:rPr b="1" lang="en-GB" sz="1700">
                <a:solidFill>
                  <a:srgbClr val="27251E"/>
                </a:solidFill>
              </a:rPr>
              <a:t> Team Spending Analysis</a:t>
            </a:r>
            <a:endParaRPr b="1" sz="1700">
              <a:solidFill>
                <a:srgbClr val="27251E"/>
              </a:solidFill>
            </a:endParaRPr>
          </a:p>
          <a:p>
            <a:pPr indent="0" lvl="0" marL="0" rtl="0" algn="l">
              <a:spcBef>
                <a:spcPts val="400"/>
              </a:spcBef>
              <a:spcAft>
                <a:spcPts val="0"/>
              </a:spcAft>
              <a:buNone/>
            </a:pPr>
            <a:r>
              <a:t/>
            </a:r>
            <a:endParaRPr/>
          </a:p>
        </p:txBody>
      </p:sp>
      <p:sp>
        <p:nvSpPr>
          <p:cNvPr id="295" name="Google Shape;295;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GB" sz="1200">
                <a:solidFill>
                  <a:srgbClr val="27251E"/>
                </a:solidFill>
                <a:latin typeface="Georgia"/>
                <a:ea typeface="Georgia"/>
                <a:cs typeface="Georgia"/>
                <a:sym typeface="Georgia"/>
              </a:rPr>
              <a:t>Project 2 also scales the analysis from players to franchises by comparing team payroll and average performance outcomes.</a:t>
            </a:r>
            <a:br>
              <a:rPr lang="en-GB" sz="1200">
                <a:solidFill>
                  <a:srgbClr val="27251E"/>
                </a:solidFill>
                <a:latin typeface="Georgia"/>
                <a:ea typeface="Georgia"/>
                <a:cs typeface="Georgia"/>
                <a:sym typeface="Georgia"/>
              </a:rPr>
            </a:br>
            <a:r>
              <a:rPr lang="en-GB" sz="1200">
                <a:solidFill>
                  <a:srgbClr val="27251E"/>
                </a:solidFill>
                <a:latin typeface="Georgia"/>
                <a:ea typeface="Georgia"/>
                <a:cs typeface="Georgia"/>
                <a:sym typeface="Georgia"/>
              </a:rPr>
              <a:t>The proposal recommends views such as average salary by team, average PER by team, team payroll versus team efficiency, and salary allocation by position.</a:t>
            </a:r>
            <a:br>
              <a:rPr lang="en-GB" sz="1200">
                <a:solidFill>
                  <a:srgbClr val="27251E"/>
                </a:solidFill>
                <a:latin typeface="Georgia"/>
                <a:ea typeface="Georgia"/>
                <a:cs typeface="Georgia"/>
                <a:sym typeface="Georgia"/>
              </a:rPr>
            </a:br>
            <a:r>
              <a:rPr lang="en-GB" sz="1200">
                <a:solidFill>
                  <a:srgbClr val="27251E"/>
                </a:solidFill>
                <a:latin typeface="Georgia"/>
                <a:ea typeface="Georgia"/>
                <a:cs typeface="Georgia"/>
                <a:sym typeface="Georgia"/>
              </a:rPr>
              <a:t>These charts help reveal which teams spend efficiently, which teams over-invest in certain positions, and which organizations get stronger returns from their payroll.</a:t>
            </a:r>
            <a:endParaRPr sz="1200">
              <a:solidFill>
                <a:srgbClr val="27251E"/>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t/>
            </a:r>
            <a:endParaRPr sz="1200">
              <a:solidFill>
                <a:srgbClr val="27251E"/>
              </a:solidFill>
              <a:latin typeface="Georgia"/>
              <a:ea typeface="Georgia"/>
              <a:cs typeface="Georgia"/>
              <a:sym typeface="Georgia"/>
            </a:endParaRPr>
          </a:p>
          <a:p>
            <a:pPr indent="-304800" lvl="0" marL="457200" rtl="0" algn="l">
              <a:spcBef>
                <a:spcPts val="60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Some teams combine moderate payroll with strong average efficiency, suggesting better value allocation.</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Others show high spending without equivalent performance returns, indicating weaker salary efficiency.</a:t>
            </a:r>
            <a:endParaRPr sz="1200">
              <a:solidFill>
                <a:srgbClr val="27251E"/>
              </a:solidFill>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01" name="Google Shape;301;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02" name="Google Shape;302;p52"/>
          <p:cNvPicPr preferRelativeResize="0"/>
          <p:nvPr/>
        </p:nvPicPr>
        <p:blipFill>
          <a:blip r:embed="rId3">
            <a:alphaModFix/>
          </a:blip>
          <a:stretch>
            <a:fillRect/>
          </a:stretch>
        </p:blipFill>
        <p:spPr>
          <a:xfrm>
            <a:off x="153992" y="152400"/>
            <a:ext cx="9140814" cy="514349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1800"/>
              </a:spcBef>
              <a:spcAft>
                <a:spcPts val="0"/>
              </a:spcAft>
              <a:buClr>
                <a:schemeClr val="dk1"/>
              </a:buClr>
              <a:buSzPct val="64706"/>
              <a:buFont typeface="Arial"/>
              <a:buNone/>
            </a:pPr>
            <a:r>
              <a:rPr b="1" lang="en-GB" sz="1700">
                <a:solidFill>
                  <a:srgbClr val="27251E"/>
                </a:solidFill>
              </a:rPr>
              <a:t>Interactive Dashboard</a:t>
            </a:r>
            <a:endParaRPr b="1" sz="1700">
              <a:solidFill>
                <a:srgbClr val="27251E"/>
              </a:solidFill>
            </a:endParaRPr>
          </a:p>
          <a:p>
            <a:pPr indent="0" lvl="0" marL="0" rtl="0" algn="l">
              <a:spcBef>
                <a:spcPts val="400"/>
              </a:spcBef>
              <a:spcAft>
                <a:spcPts val="0"/>
              </a:spcAft>
              <a:buNone/>
            </a:pPr>
            <a:r>
              <a:t/>
            </a:r>
            <a:endParaRPr/>
          </a:p>
        </p:txBody>
      </p:sp>
      <p:sp>
        <p:nvSpPr>
          <p:cNvPr id="308" name="Google Shape;308;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sz="1200">
                <a:solidFill>
                  <a:srgbClr val="27251E"/>
                </a:solidFill>
                <a:latin typeface="Georgia"/>
                <a:ea typeface="Georgia"/>
                <a:cs typeface="Georgia"/>
                <a:sym typeface="Georgia"/>
              </a:rPr>
              <a:t>The final dashboard combines player-level and team-level views into one interactive analytical screen.</a:t>
            </a:r>
            <a:endParaRPr sz="1200">
              <a:solidFill>
                <a:srgbClr val="27251E"/>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rPr lang="en-GB" sz="1200">
                <a:solidFill>
                  <a:srgbClr val="27251E"/>
                </a:solidFill>
                <a:latin typeface="Georgia"/>
                <a:ea typeface="Georgia"/>
                <a:cs typeface="Georgia"/>
                <a:sym typeface="Georgia"/>
              </a:rPr>
              <a:t>Users can filter by team, position, and salary tier, explore the salary-performance bubble chart, inspect the value leaderboard, and compare team spending patterns.</a:t>
            </a:r>
            <a:endParaRPr sz="1200">
              <a:solidFill>
                <a:srgbClr val="27251E"/>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rPr lang="en-GB" sz="1200">
                <a:solidFill>
                  <a:srgbClr val="27251E"/>
                </a:solidFill>
                <a:latin typeface="Georgia"/>
                <a:ea typeface="Georgia"/>
                <a:cs typeface="Georgia"/>
                <a:sym typeface="Georgia"/>
              </a:rPr>
              <a:t>This design follows the proposal’s final storytelling stage, where analysis moves from static explanation to interactive decision-making.</a:t>
            </a:r>
            <a:endParaRPr sz="1200">
              <a:solidFill>
                <a:srgbClr val="27251E"/>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rPr lang="en-GB" sz="1200">
                <a:solidFill>
                  <a:srgbClr val="27251E"/>
                </a:solidFill>
                <a:latin typeface="Georgia"/>
                <a:ea typeface="Georgia"/>
                <a:cs typeface="Georgia"/>
                <a:sym typeface="Georgia"/>
              </a:rPr>
              <a:t>The final project also includes a storytelling webpage that combines Python methodology, key findings from Project 1, the salary-efficiency results from Project 2, and embedded dashboard content.</a:t>
            </a:r>
            <a:endParaRPr sz="1200">
              <a:solidFill>
                <a:srgbClr val="27251E"/>
              </a:solidFill>
              <a:latin typeface="Georgia"/>
              <a:ea typeface="Georgia"/>
              <a:cs typeface="Georgia"/>
              <a:sym typeface="Georgia"/>
            </a:endParaRPr>
          </a:p>
          <a:p>
            <a:pPr indent="0" lvl="0" marL="0" rtl="0" algn="l">
              <a:spcBef>
                <a:spcPts val="1200"/>
              </a:spcBef>
              <a:spcAft>
                <a:spcPts val="120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14" name="Google Shape;314;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15" name="Google Shape;315;p54"/>
          <p:cNvPicPr preferRelativeResize="0"/>
          <p:nvPr/>
        </p:nvPicPr>
        <p:blipFill>
          <a:blip r:embed="rId3">
            <a:alphaModFix/>
          </a:blip>
          <a:stretch>
            <a:fillRect/>
          </a:stretch>
        </p:blipFill>
        <p:spPr>
          <a:xfrm>
            <a:off x="152400" y="152848"/>
            <a:ext cx="9144001" cy="514260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600"/>
              </a:spcBef>
              <a:spcAft>
                <a:spcPts val="0"/>
              </a:spcAft>
              <a:buClr>
                <a:schemeClr val="dk1"/>
              </a:buClr>
              <a:buSzPct val="91667"/>
              <a:buFont typeface="Arial"/>
              <a:buNone/>
            </a:pPr>
            <a:r>
              <a:rPr lang="en-GB" sz="1200">
                <a:solidFill>
                  <a:srgbClr val="27251E"/>
                </a:solidFill>
                <a:latin typeface="Georgia"/>
                <a:ea typeface="Georgia"/>
                <a:cs typeface="Georgia"/>
                <a:sym typeface="Georgia"/>
              </a:rPr>
              <a:t>Key Findings Across Project 1 and Project 2</a:t>
            </a:r>
            <a:endParaRPr sz="1200">
              <a:solidFill>
                <a:srgbClr val="27251E"/>
              </a:solidFill>
              <a:latin typeface="Georgia"/>
              <a:ea typeface="Georgia"/>
              <a:cs typeface="Georgia"/>
              <a:sym typeface="Georgia"/>
            </a:endParaRPr>
          </a:p>
          <a:p>
            <a:pPr indent="0" lvl="0" marL="0" rtl="0" algn="l">
              <a:lnSpc>
                <a:spcPct val="115000"/>
              </a:lnSpc>
              <a:spcBef>
                <a:spcPts val="600"/>
              </a:spcBef>
              <a:spcAft>
                <a:spcPts val="0"/>
              </a:spcAft>
              <a:buClr>
                <a:schemeClr val="dk1"/>
              </a:buClr>
              <a:buSzPct val="100000"/>
              <a:buFont typeface="Arial"/>
              <a:buNone/>
            </a:pPr>
            <a:r>
              <a:t/>
            </a:r>
            <a:endParaRPr sz="1100"/>
          </a:p>
          <a:p>
            <a:pPr indent="0" lvl="0" marL="0" rtl="0" algn="l">
              <a:spcBef>
                <a:spcPts val="0"/>
              </a:spcBef>
              <a:spcAft>
                <a:spcPts val="0"/>
              </a:spcAft>
              <a:buNone/>
            </a:pPr>
            <a:r>
              <a:t/>
            </a:r>
            <a:endParaRPr/>
          </a:p>
        </p:txBody>
      </p:sp>
      <p:sp>
        <p:nvSpPr>
          <p:cNvPr id="321" name="Google Shape;321;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Project 1 showed that player performance differs meaningfully by position, especially in scoring, rebounding, and assists.</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Usage Rate and PER showed a strong positive relationship, confirming that high-impact players are usually given larger offensive roles.</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Salary adds a crucial second dimension: the best players are not always the best values.</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Salary-efficiency analysis makes it possible to identify undervalued contributors and overpaid underperformers.</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Team-level comparisons reveal that spending more does not automatically produce better efficiency outcomes.</a:t>
            </a:r>
            <a:endParaRPr sz="1200">
              <a:solidFill>
                <a:srgbClr val="27251E"/>
              </a:solidFill>
              <a:latin typeface="Georgia"/>
              <a:ea typeface="Georgia"/>
              <a:cs typeface="Georgia"/>
              <a:sym typeface="Georgia"/>
            </a:endParaRPr>
          </a:p>
          <a:p>
            <a:pPr indent="0" lvl="0" marL="0" rtl="0" algn="l">
              <a:spcBef>
                <a:spcPts val="0"/>
              </a:spcBef>
              <a:spcAft>
                <a:spcPts val="12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solidFill>
                  <a:srgbClr val="27251E"/>
                </a:solidFill>
                <a:latin typeface="Georgia"/>
                <a:ea typeface="Georgia"/>
                <a:cs typeface="Georgia"/>
                <a:sym typeface="Georgia"/>
              </a:rPr>
              <a:t>Final Conclusions</a:t>
            </a:r>
            <a:r>
              <a:rPr lang="en-GB" sz="1100"/>
              <a:t> </a:t>
            </a:r>
            <a:endParaRPr/>
          </a:p>
        </p:txBody>
      </p:sp>
      <p:sp>
        <p:nvSpPr>
          <p:cNvPr id="327" name="Google Shape;327;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GB" sz="1200">
                <a:solidFill>
                  <a:srgbClr val="27251E"/>
                </a:solidFill>
                <a:latin typeface="Georgia"/>
                <a:ea typeface="Georgia"/>
                <a:cs typeface="Georgia"/>
                <a:sym typeface="Georgia"/>
              </a:rPr>
              <a:t>This project shows that performance analysis alone is incomplete without financial context.</a:t>
            </a:r>
            <a:endParaRPr sz="1200">
              <a:solidFill>
                <a:srgbClr val="27251E"/>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rPr lang="en-GB" sz="1200">
                <a:solidFill>
                  <a:srgbClr val="27251E"/>
                </a:solidFill>
                <a:latin typeface="Georgia"/>
                <a:ea typeface="Georgia"/>
                <a:cs typeface="Georgia"/>
                <a:sym typeface="Georgia"/>
              </a:rPr>
              <a:t>Project 1 identified the strongest player-performance patterns, positional differences, and efficiency relationships in the 2024–25 NBA season.</a:t>
            </a:r>
            <a:endParaRPr sz="1200">
              <a:solidFill>
                <a:srgbClr val="27251E"/>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rPr lang="en-GB" sz="1200">
                <a:solidFill>
                  <a:srgbClr val="27251E"/>
                </a:solidFill>
                <a:latin typeface="Georgia"/>
                <a:ea typeface="Georgia"/>
                <a:cs typeface="Georgia"/>
                <a:sym typeface="Georgia"/>
              </a:rPr>
              <a:t>Project 2 extended that work by merging salary data and engineering a value metric to compare player impact against contract cost.</a:t>
            </a:r>
            <a:endParaRPr sz="1200">
              <a:solidFill>
                <a:srgbClr val="27251E"/>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rPr lang="en-GB" sz="1200">
                <a:solidFill>
                  <a:srgbClr val="27251E"/>
                </a:solidFill>
                <a:latin typeface="Georgia"/>
                <a:ea typeface="Georgia"/>
                <a:cs typeface="Georgia"/>
                <a:sym typeface="Georgia"/>
              </a:rPr>
              <a:t>The combined analysis demonstrates that some lower-paid players provide exceptional value, while some highly paid players do not deliver proportional performance.</a:t>
            </a:r>
            <a:endParaRPr sz="1200">
              <a:solidFill>
                <a:srgbClr val="27251E"/>
              </a:solidFill>
              <a:latin typeface="Georgia"/>
              <a:ea typeface="Georgia"/>
              <a:cs typeface="Georgia"/>
              <a:sym typeface="Georgia"/>
            </a:endParaRPr>
          </a:p>
          <a:p>
            <a:pPr indent="0" lvl="0" marL="0" rtl="0" algn="l">
              <a:spcBef>
                <a:spcPts val="1200"/>
              </a:spcBef>
              <a:spcAft>
                <a:spcPts val="0"/>
              </a:spcAft>
              <a:buClr>
                <a:schemeClr val="dk1"/>
              </a:buClr>
              <a:buSzPts val="1100"/>
              <a:buFont typeface="Arial"/>
              <a:buNone/>
            </a:pPr>
            <a:r>
              <a:rPr lang="en-GB" sz="1200">
                <a:solidFill>
                  <a:srgbClr val="27251E"/>
                </a:solidFill>
                <a:latin typeface="Georgia"/>
                <a:ea typeface="Georgia"/>
                <a:cs typeface="Georgia"/>
                <a:sym typeface="Georgia"/>
              </a:rPr>
              <a:t>At the team level, salary efficiency varies significantly, meaning smarter roster construction depends on balancing cost, usage, and on-court production rather than chasing star salary alone.</a:t>
            </a:r>
            <a:endParaRPr sz="1200">
              <a:solidFill>
                <a:srgbClr val="27251E"/>
              </a:solidFill>
              <a:latin typeface="Georgia"/>
              <a:ea typeface="Georgia"/>
              <a:cs typeface="Georgia"/>
              <a:sym typeface="Georgia"/>
            </a:endParaRPr>
          </a:p>
          <a:p>
            <a:pPr indent="0" lvl="0" marL="0" rtl="0" algn="l">
              <a:spcBef>
                <a:spcPts val="1200"/>
              </a:spcBef>
              <a:spcAft>
                <a:spcPts val="1200"/>
              </a:spcAft>
              <a:buNone/>
            </a:pPr>
            <a:r>
              <a:rPr lang="en-GB" sz="1200">
                <a:solidFill>
                  <a:srgbClr val="27251E"/>
                </a:solidFill>
                <a:latin typeface="Georgia"/>
                <a:ea typeface="Georgia"/>
                <a:cs typeface="Georgia"/>
                <a:sym typeface="Georgia"/>
              </a:rPr>
              <a:t>Overall, the project turns raw NBA statistics into a practical framework for evaluating player value, team spending strategy, and data-driven decision-making.</a:t>
            </a:r>
            <a:r>
              <a:rPr lang="en-GB" sz="1100">
                <a:solidFill>
                  <a:schemeClr val="dk1"/>
                </a:solidFill>
              </a:rPr>
              <a:t>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Tools</a:t>
            </a:r>
            <a:endParaRPr/>
          </a:p>
        </p:txBody>
      </p:sp>
      <p:sp>
        <p:nvSpPr>
          <p:cNvPr id="333" name="Google Shape;333;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Python (Pandas, NumPy, Matplotlib/Seaborn) for cleaning, merging, and feature engineering.</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Tableau Public / Power BI for dashboard construction and interactive filtering.</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Cleaned Project 1 dataset and merged Project 2 dataset.</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Static visualizations from Project 1 and interactive dashboard views from Project 2.</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Final storytelling webpage integrating methods, findings, and dashboard content.</a:t>
            </a:r>
            <a:endParaRPr sz="1200">
              <a:solidFill>
                <a:srgbClr val="27251E"/>
              </a:solidFill>
              <a:latin typeface="Georgia"/>
              <a:ea typeface="Georgia"/>
              <a:cs typeface="Georgia"/>
              <a:sym typeface="Georgia"/>
            </a:endParaRPr>
          </a:p>
          <a:p>
            <a:pPr indent="-304800" lvl="0" marL="457200" rtl="0" algn="l">
              <a:spcBef>
                <a:spcPts val="0"/>
              </a:spcBef>
              <a:spcAft>
                <a:spcPts val="0"/>
              </a:spcAft>
              <a:buClr>
                <a:srgbClr val="27251E"/>
              </a:buClr>
              <a:buSzPts val="1200"/>
              <a:buFont typeface="Georgia"/>
              <a:buChar char="●"/>
            </a:pPr>
            <a:r>
              <a:rPr lang="en-GB" sz="1200">
                <a:solidFill>
                  <a:srgbClr val="27251E"/>
                </a:solidFill>
                <a:latin typeface="Georgia"/>
                <a:ea typeface="Georgia"/>
                <a:cs typeface="Georgia"/>
                <a:sym typeface="Georgia"/>
              </a:rPr>
              <a:t>Technical documentation covering schema, methodology, assumptions, and code structure</a:t>
            </a:r>
            <a:endParaRPr sz="1200">
              <a:solidFill>
                <a:srgbClr val="27251E"/>
              </a:solidFill>
              <a:latin typeface="Georgia"/>
              <a:ea typeface="Georgia"/>
              <a:cs typeface="Georgia"/>
              <a:sym typeface="Georgia"/>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